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6B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0A9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114800"/>
            <a:ext cx="4114800" cy="4114800"/>
          </a:xfrm>
          <a:prstGeom prst="ellipse">
            <a:avLst/>
          </a:prstGeom>
          <a:solidFill>
            <a:srgbClr val="087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548640"/>
            <a:ext cx="4114800" cy="457200"/>
          </a:xfrm>
          <a:prstGeom prst="roundRect">
            <a:avLst/>
          </a:prstGeom>
          <a:solidFill>
            <a:srgbClr val="0A9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66928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NAVA ECO IDEATHON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6B364"/>
                </a:solidFill>
                <a:latin typeface="Calibri"/>
              </a:defRPr>
            </a:pPr>
            <a:r>
              <a:t>Eco-preneurship for a Sustainable Future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FFFF"/>
                </a:solidFill>
                <a:latin typeface="Calibri"/>
              </a:defRPr>
            </a:pPr>
            <a:r>
              <a:t>ECOVERSE 360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0F0C4"/>
                </a:solidFill>
                <a:latin typeface="Calibri"/>
              </a:defRPr>
            </a:pPr>
            <a:r>
              <a:t>The Sustainability Operating System That</a:t>
            </a:r>
            <a:br/>
            <a:r>
              <a:t>Transforms Every Space Into an Eco-Intelligent Ecosystem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54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B7280"/>
                </a:solidFill>
                <a:latin typeface="Calibri"/>
              </a:defRPr>
            </a:pPr>
            <a:r>
              <a:t>IoT Sensing  ·  Digital Twin  ·  Machine Learning  ·  Carbon Credits  ·  Gamification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126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Team Ecoverse  |  Adi Shankara Institute of Engineering &amp; Technology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6126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16B364"/>
                </a:solidFill>
                <a:latin typeface="Calibri"/>
              </a:defRPr>
            </a:pPr>
            <a:r>
              <a:t>Center for AI-IoT Innovation &amp; IEDC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1/16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84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CRISIS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3F8DF"/>
                </a:solidFill>
                <a:latin typeface="Calibri"/>
              </a:defRPr>
            </a:pPr>
            <a:r>
              <a:t>Why the world needs intelligent sustainability — NOW</a:t>
            </a:r>
          </a:p>
        </p:txBody>
      </p:sp>
      <p:sp>
        <p:nvSpPr>
          <p:cNvPr id="5" name="Oval 4"/>
          <p:cNvSpPr/>
          <p:nvPr/>
        </p:nvSpPr>
        <p:spPr>
          <a:xfrm>
            <a:off x="11338560" y="228600"/>
            <a:ext cx="457200" cy="457200"/>
          </a:xfrm>
          <a:prstGeom prst="ellipse">
            <a:avLst/>
          </a:prstGeom>
          <a:solidFill>
            <a:srgbClr val="16B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20116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201168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630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F4444"/>
                </a:solidFill>
                <a:latin typeface="Calibri"/>
              </a:defRPr>
            </a:pPr>
            <a:r>
              <a:t>36.8B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48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Tonnes CO₂</a:t>
            </a:r>
            <a:br/>
            <a:r>
              <a:t>emitted/year globally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280160"/>
            <a:ext cx="20116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280160"/>
            <a:ext cx="20116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4630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  <a:latin typeface="Calibri"/>
              </a:defRPr>
            </a:pPr>
            <a:r>
              <a:t>40%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148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Building energy</a:t>
            </a:r>
            <a:br/>
            <a:r>
              <a:t>wasted on empty rooms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280160"/>
            <a:ext cx="20116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280160"/>
            <a:ext cx="201168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4630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97316"/>
                </a:solidFill>
                <a:latin typeface="Calibri"/>
              </a:defRPr>
            </a:pPr>
            <a:r>
              <a:t>2B+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148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Tonnes of waste</a:t>
            </a:r>
            <a:br/>
            <a:r>
              <a:t>mismanaged annually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280160"/>
            <a:ext cx="20116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1280160"/>
            <a:ext cx="20116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14630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B82F6"/>
                </a:solidFill>
                <a:latin typeface="Calibri"/>
              </a:defRPr>
            </a:pPr>
            <a:r>
              <a:t>68%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14884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People want to help</a:t>
            </a:r>
            <a:br/>
            <a:r>
              <a:t>but don't know how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108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84C2E"/>
                </a:solidFill>
                <a:latin typeface="Calibri"/>
              </a:defRPr>
            </a:pPr>
            <a:r>
              <a:t>The Problems We're Solving: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" y="3703320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6576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Buildings, campuses, and factories generate massive carbon footprints — invisible and untracked</a:t>
            </a:r>
          </a:p>
        </p:txBody>
      </p:sp>
      <p:sp>
        <p:nvSpPr>
          <p:cNvPr id="25" name="Oval 24"/>
          <p:cNvSpPr/>
          <p:nvPr/>
        </p:nvSpPr>
        <p:spPr>
          <a:xfrm>
            <a:off x="548640" y="4178808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13308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Air and water quality issues go undetected for hours in urban environments</a:t>
            </a:r>
          </a:p>
        </p:txBody>
      </p:sp>
      <p:sp>
        <p:nvSpPr>
          <p:cNvPr id="27" name="Oval 26"/>
          <p:cNvSpPr/>
          <p:nvPr/>
        </p:nvSpPr>
        <p:spPr>
          <a:xfrm>
            <a:off x="548640" y="4654296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608576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40% of recyclable waste is misclassified — smart bins overflow before collection</a:t>
            </a:r>
          </a:p>
        </p:txBody>
      </p:sp>
      <p:sp>
        <p:nvSpPr>
          <p:cNvPr id="29" name="Oval 28"/>
          <p:cNvSpPr/>
          <p:nvPr/>
        </p:nvSpPr>
        <p:spPr>
          <a:xfrm>
            <a:off x="548640" y="5129784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084064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AC and exhaust systems dump recoverable thermal energy into the atmosphere</a:t>
            </a:r>
          </a:p>
        </p:txBody>
      </p:sp>
      <p:sp>
        <p:nvSpPr>
          <p:cNvPr id="31" name="Oval 30"/>
          <p:cNvSpPr/>
          <p:nvPr/>
        </p:nvSpPr>
        <p:spPr>
          <a:xfrm>
            <a:off x="548640" y="5605272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555955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Individual eco-friendly actions (recycling, carpooling, planting) earn zero recognition</a:t>
            </a:r>
          </a:p>
        </p:txBody>
      </p:sp>
      <p:sp>
        <p:nvSpPr>
          <p:cNvPr id="33" name="Oval 32"/>
          <p:cNvSpPr/>
          <p:nvPr/>
        </p:nvSpPr>
        <p:spPr>
          <a:xfrm>
            <a:off x="548640" y="6080760"/>
            <a:ext cx="164592" cy="16459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60350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A1A2E"/>
                </a:solidFill>
                <a:latin typeface="Calibri"/>
              </a:defRPr>
            </a:pPr>
            <a:r>
              <a:t>No platform connects sensing, prediction, simulation, and rewards in one system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84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WHAT WE'RE BUILDING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3F8DF"/>
                </a:solidFill>
                <a:latin typeface="Calibri"/>
              </a:defRPr>
            </a:pPr>
            <a:r>
              <a:t>A complete sustainability operating system — from sensors to carbon credits</a:t>
            </a:r>
          </a:p>
        </p:txBody>
      </p:sp>
      <p:sp>
        <p:nvSpPr>
          <p:cNvPr id="5" name="Oval 4"/>
          <p:cNvSpPr/>
          <p:nvPr/>
        </p:nvSpPr>
        <p:spPr>
          <a:xfrm>
            <a:off x="11338560" y="228600"/>
            <a:ext cx="457200" cy="457200"/>
          </a:xfrm>
          <a:prstGeom prst="ellipse">
            <a:avLst/>
          </a:prstGeom>
          <a:solidFill>
            <a:srgbClr val="16B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11430000" cy="1188720"/>
          </a:xfrm>
          <a:prstGeom prst="roundRect">
            <a:avLst/>
          </a:prstGeom>
          <a:solidFill>
            <a:srgbClr val="EDFCF2"/>
          </a:solidFill>
          <a:ln w="12700">
            <a:solidFill>
              <a:srgbClr val="16B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84C2E"/>
                </a:solidFill>
                <a:latin typeface="Calibri"/>
              </a:defRPr>
            </a:pPr>
            <a:r>
              <a:t>Ecoverse 360 connects IoT sensors across air, water, waste, agriculture, and energy domains — feeding real-time data into a Digital Twin that models your environment as a living simulation. ML models predict issues before they happen. Every sustainable action earns carbon credits through gamified engagement.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743200"/>
            <a:ext cx="219456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2743200"/>
            <a:ext cx="2194560" cy="64008"/>
          </a:xfrm>
          <a:prstGeom prst="rect">
            <a:avLst/>
          </a:prstGeom>
          <a:solidFill>
            <a:srgbClr val="16B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1560" y="2971800"/>
            <a:ext cx="640080" cy="640080"/>
          </a:xfrm>
          <a:prstGeom prst="ellipse">
            <a:avLst/>
          </a:prstGeom>
          <a:solidFill>
            <a:srgbClr val="16B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0175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749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2E"/>
                </a:solidFill>
                <a:latin typeface="Calibri"/>
              </a:defRPr>
            </a:pPr>
            <a:r>
              <a:t>Monitor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16052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200+ IoT sensors track</a:t>
            </a:r>
            <a:br/>
            <a:r>
              <a:t>air, water, waste, soil,</a:t>
            </a:r>
            <a:br/>
            <a:r>
              <a:t>and energy in real-time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06040" y="2743200"/>
            <a:ext cx="219456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06040" y="2743200"/>
            <a:ext cx="219456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383280" y="2971800"/>
            <a:ext cx="640080" cy="6400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30175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3749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2E"/>
                </a:solidFill>
                <a:latin typeface="Calibri"/>
              </a:defRPr>
            </a:pPr>
            <a:r>
              <a:t>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416052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Digital Twin mirrors your</a:t>
            </a:r>
            <a:br/>
            <a:r>
              <a:t>environment — run what-if</a:t>
            </a:r>
            <a:br/>
            <a:r>
              <a:t>scenarios instantly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937760" y="2743200"/>
            <a:ext cx="219456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937760" y="2743200"/>
            <a:ext cx="2194560" cy="64008"/>
          </a:xfrm>
          <a:prstGeom prst="rect">
            <a:avLst/>
          </a:prstGeom>
          <a:solidFill>
            <a:srgbClr val="9B7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715000" y="2971800"/>
            <a:ext cx="640080" cy="640080"/>
          </a:xfrm>
          <a:prstGeom prst="ellipse">
            <a:avLst/>
          </a:prstGeom>
          <a:solidFill>
            <a:srgbClr val="9B7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5000" y="30175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60" y="3749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2E"/>
                </a:solidFill>
                <a:latin typeface="Calibri"/>
              </a:defRPr>
            </a:pPr>
            <a:r>
              <a:t>Predict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416052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4 ML models forecast</a:t>
            </a:r>
            <a:br/>
            <a:r>
              <a:t>waste overflow, AQI,</a:t>
            </a:r>
            <a:br/>
            <a:r>
              <a:t>energy &amp; crop yield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69480" y="2743200"/>
            <a:ext cx="219456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69480" y="2743200"/>
            <a:ext cx="219456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046720" y="297180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0" y="30175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3749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2E"/>
                </a:solidFill>
                <a:latin typeface="Calibri"/>
              </a:defRPr>
            </a:pPr>
            <a:r>
              <a:t>Reward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416052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EcoPoints gamification</a:t>
            </a:r>
            <a:br/>
            <a:r>
              <a:t>turns daily green habits</a:t>
            </a:r>
            <a:br/>
            <a:r>
              <a:t>into carbon credits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01200" y="2743200"/>
            <a:ext cx="219456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601200" y="2743200"/>
            <a:ext cx="2194560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378440" y="2971800"/>
            <a:ext cx="640080" cy="64008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78440" y="30175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37490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A1A2E"/>
                </a:solidFill>
                <a:latin typeface="Calibri"/>
              </a:defRPr>
            </a:pPr>
            <a:r>
              <a:t>Scale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416052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Campuses → Homes →</a:t>
            </a:r>
            <a:br/>
            <a:r>
              <a:t>Government → Factories</a:t>
            </a:r>
            <a:br/>
            <a:r>
              <a:t>across 4 rollout phases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5577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Sensor Data  →  MQTT Pipeline  →  Digital Twin  →  ML Predictions  →  Dashboard  →  EcoPoints  →  Carbon Credits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84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3F8DF"/>
                </a:solidFill>
                <a:latin typeface="Calibri"/>
              </a:defRPr>
            </a:pPr>
            <a:r>
              <a:t>6-layer architecture — from physical sensors to carbon economy</a:t>
            </a:r>
          </a:p>
        </p:txBody>
      </p:sp>
      <p:sp>
        <p:nvSpPr>
          <p:cNvPr id="5" name="Oval 4"/>
          <p:cNvSpPr/>
          <p:nvPr/>
        </p:nvSpPr>
        <p:spPr>
          <a:xfrm>
            <a:off x="11338560" y="228600"/>
            <a:ext cx="457200" cy="457200"/>
          </a:xfrm>
          <a:prstGeom prst="ellipse">
            <a:avLst/>
          </a:prstGeom>
          <a:solidFill>
            <a:srgbClr val="16B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11430000" cy="777240"/>
          </a:xfrm>
          <a:prstGeom prst="roundRect">
            <a:avLst/>
          </a:prstGeom>
          <a:solidFill>
            <a:srgbClr val="16B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LAYER 1 — PHYSICAL / IoT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0"/>
                </a:solidFill>
                <a:latin typeface="Calibri"/>
              </a:defRPr>
            </a:pPr>
            <a:r>
              <a:t>Smart Bins · Air Monitors · Water Probes · Vertical Farm · Energy Tiles · Precision Farm Edge (ESP32-S3)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1965960"/>
            <a:ext cx="11430000" cy="777240"/>
          </a:xfrm>
          <a:prstGeom prst="roundRect">
            <a:avLst/>
          </a:prstGeom>
          <a:solidFill>
            <a:srgbClr val="0D9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LAYER 2 — DATA INGESTION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31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0"/>
                </a:solidFill>
                <a:latin typeface="Calibri"/>
              </a:defRPr>
            </a:pPr>
            <a:r>
              <a:t>Mosquitto MQTT Broker · Fog Gateway (validation + emergency control) · Offline Buffer · Cloud Sync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2834640"/>
            <a:ext cx="11430000" cy="7772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880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LAYER 3 — STORAGE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200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0"/>
                </a:solidFill>
                <a:latin typeface="Calibri"/>
              </a:defRPr>
            </a:pPr>
            <a:r>
              <a:t>PostgreSQL 16 (18+ tables, JSONB, triggers) · Redis 7 (cache, pub/sub) · SQLite (fog buffer)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703320"/>
            <a:ext cx="11430000" cy="777240"/>
          </a:xfrm>
          <a:prstGeom prst="roundRect">
            <a:avLst/>
          </a:prstGeom>
          <a:solidFill>
            <a:srgbClr val="9B7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749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LAYER 4 — 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069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0"/>
                </a:solidFill>
                <a:latin typeface="Calibri"/>
              </a:defRPr>
            </a:pPr>
            <a:r>
              <a:t>Digital Twin (state + simulator + physics model) · 4 ML Models · Carbon Calculator · Occupancy Optimizer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4572000"/>
            <a:ext cx="11430000" cy="7772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617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LAYER 5 — APPLICATION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937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0"/>
                </a:solidFill>
                <a:latin typeface="Calibri"/>
              </a:defRPr>
            </a:pPr>
            <a:r>
              <a:t>Next.js Dashboard · FastAPI Backend (25+ endpoints) · WebSocket · JWT Auth · Swagger UI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5440680"/>
            <a:ext cx="11430000" cy="77724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486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LAYER 6 — INCENTIVE ECONOMY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806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0"/>
                </a:solidFill>
                <a:latin typeface="Calibri"/>
              </a:defRPr>
            </a:pPr>
            <a:r>
              <a:t>EcoPoints Engine (17 activities, 9 levels) · Carbon Credit Aggregation · Leaderboard · Challenges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Each layer is independently deployable via Docker · Fog layer ensures offline resilience · Entire stack runs on-premise or cloud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84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IoT SENSING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3F8DF"/>
                </a:solidFill>
                <a:latin typeface="Calibri"/>
              </a:defRPr>
            </a:pPr>
            <a:r>
              <a:t>6 custom-built sensor nodes covering 5 environmental domains</a:t>
            </a:r>
          </a:p>
        </p:txBody>
      </p:sp>
      <p:sp>
        <p:nvSpPr>
          <p:cNvPr id="5" name="Oval 4"/>
          <p:cNvSpPr/>
          <p:nvPr/>
        </p:nvSpPr>
        <p:spPr>
          <a:xfrm>
            <a:off x="11338560" y="228600"/>
            <a:ext cx="457200" cy="457200"/>
          </a:xfrm>
          <a:prstGeom prst="ellipse">
            <a:avLst/>
          </a:prstGeom>
          <a:solidFill>
            <a:srgbClr val="16B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3749039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3749039" cy="64008"/>
          </a:xfrm>
          <a:prstGeom prst="rect">
            <a:avLst/>
          </a:prstGeom>
          <a:solidFill>
            <a:srgbClr val="16B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017520" y="1325880"/>
            <a:ext cx="822960" cy="274320"/>
          </a:xfrm>
          <a:prstGeom prst="roundRect">
            <a:avLst/>
          </a:prstGeom>
          <a:solidFill>
            <a:srgbClr val="16B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0" y="13258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ESP32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25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Air Quality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6459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6B364"/>
                </a:solidFill>
                <a:latin typeface="Calibri"/>
              </a:defRPr>
            </a:pPr>
            <a:r>
              <a:t>Sensors: MQ135 · PMS5003 · DHT22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01168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AQI calculation · CO₂ estimation</a:t>
            </a:r>
            <a:br/>
            <a:r>
              <a:t>PM2.5/PM10 tracking</a:t>
            </a:r>
            <a:br/>
            <a:r>
              <a:t>Threshold alerts (&gt;150 warning)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1188720"/>
            <a:ext cx="3749039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06240" y="1188720"/>
            <a:ext cx="3749039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949440" y="1325880"/>
            <a:ext cx="822960" cy="2743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13258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ESP32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325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Water Quality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16459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B82F6"/>
                </a:solidFill>
                <a:latin typeface="Calibri"/>
              </a:defRPr>
            </a:pPr>
            <a:r>
              <a:t>Sensors: TDS · pH · DS18B20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01168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Total dissolved solids</a:t>
            </a:r>
            <a:br/>
            <a:r>
              <a:t>pH monitoring (6.5–8.5 safe)</a:t>
            </a:r>
            <a:br/>
            <a:r>
              <a:t>Drinking water grading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1188720"/>
            <a:ext cx="3749039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1188720"/>
            <a:ext cx="3749039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881360" y="1325880"/>
            <a:ext cx="822960" cy="2743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81360" y="13258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ESP8266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13258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Smart Waste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16459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59E0B"/>
                </a:solidFill>
                <a:latin typeface="Calibri"/>
              </a:defRPr>
            </a:pPr>
            <a:r>
              <a:t>Sensors: HC-SR04 · HX711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201168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Ultrasonic fill level (0–100%)</a:t>
            </a:r>
            <a:br/>
            <a:r>
              <a:t>Weight measurement</a:t>
            </a:r>
            <a:br/>
            <a:r>
              <a:t>ML overflow prediction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" y="3931920"/>
            <a:ext cx="3749039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3931920"/>
            <a:ext cx="3749039" cy="640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017520" y="4069080"/>
            <a:ext cx="822960" cy="27432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17520" y="40690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ESP32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069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Vertical Farm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3891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C55E"/>
                </a:solidFill>
                <a:latin typeface="Calibri"/>
              </a:defRPr>
            </a:pPr>
            <a:r>
              <a:t>Sensors: Soil · BH1750 · pH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75488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Auto-irrigation (moisture &lt;30%)</a:t>
            </a:r>
            <a:br/>
            <a:r>
              <a:t>Light intensity tracking</a:t>
            </a:r>
            <a:br/>
            <a:r>
              <a:t>Crop health scoring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06240" y="3931920"/>
            <a:ext cx="3749039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06240" y="3931920"/>
            <a:ext cx="3749039" cy="64008"/>
          </a:xfrm>
          <a:prstGeom prst="rect">
            <a:avLst/>
          </a:prstGeom>
          <a:solidFill>
            <a:srgbClr val="9B7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949440" y="4069080"/>
            <a:ext cx="822960" cy="274320"/>
          </a:xfrm>
          <a:prstGeom prst="roundRect">
            <a:avLst/>
          </a:prstGeom>
          <a:solidFill>
            <a:srgbClr val="9B7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49440" y="40690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ESP8266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4069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Energy Tiles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43891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B70F1"/>
                </a:solidFill>
                <a:latin typeface="Calibri"/>
              </a:defRPr>
            </a:pPr>
            <a:r>
              <a:t>Sensors: Piezo disc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20" y="475488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Footstep energy harvesting</a:t>
            </a:r>
            <a:br/>
            <a:r>
              <a:t>Traffic density classification</a:t>
            </a:r>
            <a:br/>
            <a:r>
              <a:t>Cumulative Wh tracking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38160" y="3931920"/>
            <a:ext cx="3749039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38160" y="3931920"/>
            <a:ext cx="3749039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0881360" y="4069080"/>
            <a:ext cx="822960" cy="27432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881360" y="40690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ESP32-S3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40690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Precision Farm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4389120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14B8A6"/>
                </a:solidFill>
                <a:latin typeface="Calibri"/>
              </a:defRPr>
            </a:pPr>
            <a:r>
              <a:t>Sensors: DHT22 · LDR · Soil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40" y="475488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3-layer Edge→Fog→Cloud</a:t>
            </a:r>
            <a:br/>
            <a:r>
              <a:t>Physics-based Digital Twin</a:t>
            </a:r>
            <a:br/>
            <a:r>
              <a:t>Emergency auto-control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84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DIGITAL TWIN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3F8DF"/>
                </a:solidFill>
                <a:latin typeface="Calibri"/>
              </a:defRPr>
            </a:pPr>
            <a:r>
              <a:t>A living digital replica of your environment — simulate before you act</a:t>
            </a:r>
          </a:p>
        </p:txBody>
      </p:sp>
      <p:sp>
        <p:nvSpPr>
          <p:cNvPr id="5" name="Oval 4"/>
          <p:cNvSpPr/>
          <p:nvPr/>
        </p:nvSpPr>
        <p:spPr>
          <a:xfrm>
            <a:off x="11338560" y="228600"/>
            <a:ext cx="457200" cy="457200"/>
          </a:xfrm>
          <a:prstGeom prst="ellipse">
            <a:avLst/>
          </a:prstGeom>
          <a:solidFill>
            <a:srgbClr val="16B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566928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66928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84C2E"/>
                </a:solidFill>
                <a:latin typeface="Calibri"/>
              </a:defRPr>
            </a:pPr>
            <a:r>
              <a:t>Campus Digital Twin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6B7280"/>
                </a:solidFill>
                <a:latin typeface="Calibri"/>
              </a:defRPr>
            </a:pPr>
            <a:r>
              <a:t>Real-time state aggregation from all IoT sensors</a:t>
            </a:r>
          </a:p>
          <a:p>
            <a:pPr>
              <a:spcAft>
                <a:spcPts val="800"/>
              </a:spcAft>
              <a:defRPr sz="1200">
                <a:solidFill>
                  <a:srgbClr val="6B7280"/>
                </a:solidFill>
                <a:latin typeface="Calibri"/>
              </a:defRPr>
            </a:pPr>
            <a:r>
              <a:t>Zone health scoring (AQI 30%, water 20%, waste 25%, noise 15%, energy 10%)</a:t>
            </a:r>
          </a:p>
          <a:p>
            <a:pPr>
              <a:spcAft>
                <a:spcPts val="800"/>
              </a:spcAft>
              <a:defRPr sz="1200">
                <a:solidFill>
                  <a:srgbClr val="6B7280"/>
                </a:solidFill>
                <a:latin typeface="Calibri"/>
              </a:defRPr>
            </a:pPr>
            <a:r>
              <a:t>What-if simulation: "What if we add 50 solar panels?"</a:t>
            </a:r>
          </a:p>
          <a:p>
            <a:pPr>
              <a:spcAft>
                <a:spcPts val="800"/>
              </a:spcAft>
              <a:defRPr sz="1200">
                <a:solidFill>
                  <a:srgbClr val="6B7280"/>
                </a:solidFill>
                <a:latin typeface="Calibri"/>
              </a:defRPr>
            </a:pPr>
            <a:r>
              <a:t>  → Projects daily/yearly CO₂ reduction</a:t>
            </a:r>
          </a:p>
          <a:p>
            <a:pPr>
              <a:spcAft>
                <a:spcPts val="800"/>
              </a:spcAft>
              <a:defRPr sz="1200">
                <a:solidFill>
                  <a:srgbClr val="6B7280"/>
                </a:solidFill>
                <a:latin typeface="Calibri"/>
              </a:defRPr>
            </a:pPr>
            <a:r>
              <a:t>  → Estimates cost savings and energy generation</a:t>
            </a:r>
          </a:p>
          <a:p>
            <a:pPr>
              <a:spcAft>
                <a:spcPts val="800"/>
              </a:spcAft>
              <a:defRPr sz="1200">
                <a:solidFill>
                  <a:srgbClr val="6B7280"/>
                </a:solidFill>
                <a:latin typeface="Calibri"/>
              </a:defRPr>
            </a:pPr>
            <a:r>
              <a:t>  → Generates actionable recommendations</a:t>
            </a:r>
          </a:p>
          <a:p>
            <a:pPr>
              <a:spcAft>
                <a:spcPts val="800"/>
              </a:spcAft>
              <a:defRPr sz="1200">
                <a:solidFill>
                  <a:srgbClr val="6B7280"/>
                </a:solidFill>
                <a:latin typeface="Calibri"/>
              </a:defRPr>
            </a:pPr>
            <a:r>
              <a:t>Intervention types: solar panels, carpoolers, trees, bins, farms</a:t>
            </a:r>
          </a:p>
          <a:p>
            <a:pPr>
              <a:spcAft>
                <a:spcPts val="800"/>
              </a:spcAft>
              <a:defRPr sz="1200">
                <a:solidFill>
                  <a:srgbClr val="6B7280"/>
                </a:solidFill>
                <a:latin typeface="Calibri"/>
              </a:defRPr>
            </a:pPr>
            <a:r>
              <a:t>Auto-generated alerts for threshold breaches</a:t>
            </a:r>
          </a:p>
          <a:p>
            <a:pPr>
              <a:spcAft>
                <a:spcPts val="800"/>
              </a:spcAft>
              <a:defRPr sz="1200">
                <a:solidFill>
                  <a:srgbClr val="6B7280"/>
                </a:solidFill>
                <a:latin typeface="Calibri"/>
              </a:defRPr>
            </a:pPr>
            <a:r>
              <a:t>Carbon reduction projections per intervention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566928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5669280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84C2E"/>
                </a:solidFill>
                <a:latin typeface="Calibri"/>
              </a:defRPr>
            </a:pPr>
            <a:r>
              <a:t>Plant Digital Twin (Already Built!)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515600" y="1417320"/>
            <a:ext cx="1097280" cy="274320"/>
          </a:xfrm>
          <a:prstGeom prst="roundRect">
            <a:avLst/>
          </a:prstGeom>
          <a:solidFill>
            <a:srgbClr val="16B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0" y="1417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82880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Physics-based water balance model:</a:t>
            </a:r>
          </a:p>
          <a:p>
            <a:pPr>
              <a:spcAft>
                <a:spcPts val="5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  ΔS = P + I - ET - D - R</a:t>
            </a:r>
          </a:p>
          <a:p>
            <a:pPr>
              <a:spcAft>
                <a:spcPts val="5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  (Penman-Monteith evapotranspiration equation)</a:t>
            </a:r>
          </a:p>
          <a:p>
            <a:pPr>
              <a:spcAft>
                <a:spcPts val="500"/>
              </a:spcAft>
              <a:defRPr sz="1100">
                <a:solidFill>
                  <a:srgbClr val="6B7280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Emergency auto-control rules:</a:t>
            </a:r>
          </a:p>
          <a:p>
            <a:pPr>
              <a:spcAft>
                <a:spcPts val="5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  • Auto-irrigation when soil moisture &lt; 30%</a:t>
            </a:r>
          </a:p>
          <a:p>
            <a:pPr>
              <a:spcAft>
                <a:spcPts val="5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  • Fan activation when temperature &gt; 35°C</a:t>
            </a:r>
          </a:p>
          <a:p>
            <a:pPr>
              <a:spcAft>
                <a:spcPts val="5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  • Critical moisture alert at soil &lt; 20%</a:t>
            </a:r>
          </a:p>
          <a:p>
            <a:pPr>
              <a:spcAft>
                <a:spcPts val="500"/>
              </a:spcAft>
              <a:defRPr sz="1100">
                <a:solidFill>
                  <a:srgbClr val="6B7280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Fog-layer offline resilience:</a:t>
            </a:r>
          </a:p>
          <a:p>
            <a:pPr>
              <a:spcAft>
                <a:spcPts val="5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  • Redis hot buffer for instant access</a:t>
            </a:r>
          </a:p>
          <a:p>
            <a:pPr>
              <a:spcAft>
                <a:spcPts val="5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  • SQLite cold buffer for persistence</a:t>
            </a:r>
          </a:p>
          <a:p>
            <a:pPr>
              <a:spcAft>
                <a:spcPts val="5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  • Background cloud sync when connectivity returns</a:t>
            </a:r>
          </a:p>
          <a:p>
            <a:pPr>
              <a:spcAft>
                <a:spcPts val="500"/>
              </a:spcAft>
              <a:defRPr sz="1100">
                <a:solidFill>
                  <a:srgbClr val="6B7280"/>
                </a:solidFill>
                <a:latin typeface="Calibri"/>
              </a:defRPr>
            </a:pPr>
          </a:p>
          <a:p>
            <a:pPr>
              <a:spcAft>
                <a:spcPts val="5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N-day future predictions via Twin extrapolation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84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AI-POWERED PREDICTIONS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3F8DF"/>
                </a:solidFill>
                <a:latin typeface="Calibri"/>
              </a:defRPr>
            </a:pPr>
            <a:r>
              <a:t>Machine Learning models that predict problems before they happen</a:t>
            </a:r>
          </a:p>
        </p:txBody>
      </p:sp>
      <p:sp>
        <p:nvSpPr>
          <p:cNvPr id="5" name="Oval 4"/>
          <p:cNvSpPr/>
          <p:nvPr/>
        </p:nvSpPr>
        <p:spPr>
          <a:xfrm>
            <a:off x="11338560" y="228600"/>
            <a:ext cx="457200" cy="457200"/>
          </a:xfrm>
          <a:prstGeom prst="ellipse">
            <a:avLst/>
          </a:prstGeom>
          <a:solidFill>
            <a:srgbClr val="16B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274320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274320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34440" y="1371600"/>
            <a:ext cx="822960" cy="8229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150876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Calibri"/>
              </a:defRPr>
            </a:pPr>
            <a:r>
              <a:t>Waste Overflow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51760"/>
            <a:ext cx="1828800" cy="256032"/>
          </a:xfrm>
          <a:prstGeom prst="roundRect">
            <a:avLst/>
          </a:prstGeom>
          <a:solidFill>
            <a:srgbClr val="EDF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5176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84C2E"/>
                </a:solidFill>
                <a:latin typeface="Calibri"/>
              </a:defRPr>
            </a:pPr>
            <a:r>
              <a:t>Gradient Boosting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1752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Inputs: fill rate, weight, hour, day</a:t>
            </a:r>
            <a:br/>
            <a:r>
              <a:t>Output: Hours until bin is full</a:t>
            </a:r>
            <a:br/>
            <a:r>
              <a:t>Impact: Optimized collection routes,</a:t>
            </a:r>
            <a:br/>
            <a:r>
              <a:t>zero overflow incidents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1188720"/>
            <a:ext cx="274320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0" y="1188720"/>
            <a:ext cx="2743200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60520" y="1371600"/>
            <a:ext cx="822960" cy="8229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60520" y="150876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Calibri"/>
              </a:defRPr>
            </a:pPr>
            <a:r>
              <a:t>Air Quality Forecast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0" y="2651760"/>
            <a:ext cx="1828800" cy="256032"/>
          </a:xfrm>
          <a:prstGeom prst="roundRect">
            <a:avLst/>
          </a:prstGeom>
          <a:solidFill>
            <a:srgbClr val="EDF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0" y="265176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84C2E"/>
                </a:solidFill>
                <a:latin typeface="Calibri"/>
              </a:defRPr>
            </a:pPr>
            <a:r>
              <a:t>Random Forest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301752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Inputs: PM2.5, PM10, CO₂, temp</a:t>
            </a:r>
            <a:br/>
            <a:r>
              <a:t>Output: Next-hour AQI prediction</a:t>
            </a:r>
            <a:br/>
            <a:r>
              <a:t>Impact: Early warnings for</a:t>
            </a:r>
            <a:br/>
            <a:r>
              <a:t>vulnerable populations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1188720"/>
            <a:ext cx="274320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80" y="1188720"/>
            <a:ext cx="274320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086600" y="1371600"/>
            <a:ext cx="822960" cy="8229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86600" y="150876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Calibri"/>
              </a:defRPr>
            </a:pPr>
            <a:r>
              <a:t>Energy Demand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0" y="2651760"/>
            <a:ext cx="1828800" cy="256032"/>
          </a:xfrm>
          <a:prstGeom prst="roundRect">
            <a:avLst/>
          </a:prstGeom>
          <a:solidFill>
            <a:srgbClr val="EDF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0" y="265176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84C2E"/>
                </a:solidFill>
                <a:latin typeface="Calibri"/>
              </a:defRPr>
            </a:pPr>
            <a:r>
              <a:t>Gradient Boosting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01752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Inputs: time, occupancy, temperature</a:t>
            </a:r>
            <a:br/>
            <a:r>
              <a:t>Output: kWh prediction</a:t>
            </a:r>
            <a:br/>
            <a:r>
              <a:t>Impact: Pre-allocate renewable</a:t>
            </a:r>
            <a:br/>
            <a:r>
              <a:t>sources, reduce grid dependency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52560" y="1188720"/>
            <a:ext cx="274320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52560" y="1188720"/>
            <a:ext cx="2743200" cy="64008"/>
          </a:xfrm>
          <a:prstGeom prst="rect">
            <a:avLst/>
          </a:prstGeom>
          <a:solidFill>
            <a:srgbClr val="16B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012680" y="1371600"/>
            <a:ext cx="822960" cy="822960"/>
          </a:xfrm>
          <a:prstGeom prst="ellipse">
            <a:avLst/>
          </a:prstGeom>
          <a:solidFill>
            <a:srgbClr val="16B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12680" y="1508760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0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Calibri"/>
              </a:defRPr>
            </a:pPr>
            <a:r>
              <a:t>Crop Yield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09760" y="2651760"/>
            <a:ext cx="1828800" cy="256032"/>
          </a:xfrm>
          <a:prstGeom prst="roundRect">
            <a:avLst/>
          </a:prstGeom>
          <a:solidFill>
            <a:srgbClr val="EDF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09760" y="265176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84C2E"/>
                </a:solidFill>
                <a:latin typeface="Calibri"/>
              </a:defRPr>
            </a:pPr>
            <a:r>
              <a:t>Random Forest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35440" y="301752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Inputs: moisture, light, pH, NPK</a:t>
            </a:r>
            <a:br/>
            <a:r>
              <a:t>Output: Estimated kg yield</a:t>
            </a:r>
            <a:br/>
            <a:r>
              <a:t>Impact: Optimize irrigation</a:t>
            </a:r>
            <a:br/>
            <a:r>
              <a:t>and fertilization timing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4320" y="4663440"/>
            <a:ext cx="11612880" cy="1828800"/>
          </a:xfrm>
          <a:prstGeom prst="roundRect">
            <a:avLst/>
          </a:prstGeom>
          <a:solidFill>
            <a:srgbClr val="EDFCF2"/>
          </a:solidFill>
          <a:ln w="12700">
            <a:solidFill>
              <a:srgbClr val="16B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4754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84C2E"/>
                </a:solidFill>
                <a:latin typeface="Calibri"/>
              </a:defRPr>
            </a:pPr>
            <a:r>
              <a:t>Carbon Footprint Calculator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1663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Rule-based engine that converts daily activities into kg CO₂ equivalents:</a:t>
            </a:r>
            <a:br/>
            <a:r>
              <a:t>Transport (mode × distance × emission factor) + Electricity (kWh × grid factor) + Food (diet type × daily factor)</a:t>
            </a:r>
            <a:br/>
            <a:r>
              <a:t>Generates personalized reduction recommendations based on individual patterns. Each activity links to measurable carbon savings tracked in the EcoPoints system.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84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ECOPOINTS &amp; CARBON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3F8DF"/>
                </a:solidFill>
                <a:latin typeface="Calibri"/>
              </a:defRPr>
            </a:pPr>
            <a:r>
              <a:t>Gamified engagement that turns everyday green habits into real carbon value</a:t>
            </a:r>
          </a:p>
        </p:txBody>
      </p:sp>
      <p:sp>
        <p:nvSpPr>
          <p:cNvPr id="5" name="Oval 4"/>
          <p:cNvSpPr/>
          <p:nvPr/>
        </p:nvSpPr>
        <p:spPr>
          <a:xfrm>
            <a:off x="11338560" y="228600"/>
            <a:ext cx="457200" cy="457200"/>
          </a:xfrm>
          <a:prstGeom prst="ellipse">
            <a:avLst/>
          </a:prstGeom>
          <a:solidFill>
            <a:srgbClr val="16B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56692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66928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84C2E"/>
                </a:solidFill>
                <a:latin typeface="Calibri"/>
              </a:defRPr>
            </a:pPr>
            <a:r>
              <a:t>EcoPoints Gamification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6B7280"/>
                </a:solidFill>
                <a:latin typeface="Calibri"/>
              </a:defRPr>
            </a:pPr>
            <a:r>
              <a:t>17 trackable activities: recycle, carpool, plant_tree, compost, bike_ride...</a:t>
            </a:r>
          </a:p>
          <a:p>
            <a:pPr>
              <a:spcAft>
                <a:spcPts val="600"/>
              </a:spcAft>
              <a:defRPr sz="1200">
                <a:solidFill>
                  <a:srgbClr val="6B7280"/>
                </a:solidFill>
                <a:latin typeface="Calibri"/>
              </a:defRPr>
            </a:pPr>
            <a:r>
              <a:t>Each activity = base points + CO₂ saved (e.g., plant_tree = 30 pts, 22 kg CO₂/yr)</a:t>
            </a:r>
          </a:p>
          <a:p>
            <a:pPr>
              <a:spcAft>
                <a:spcPts val="600"/>
              </a:spcAft>
              <a:defRPr sz="1200">
                <a:solidFill>
                  <a:srgbClr val="6B7280"/>
                </a:solidFill>
                <a:latin typeface="Calibri"/>
              </a:defRPr>
            </a:pPr>
            <a:r>
              <a:t>Streak multipliers: 7-day (1.2×), 30-day (1.5×), 100-day (2.0×)</a:t>
            </a:r>
          </a:p>
          <a:p>
            <a:pPr>
              <a:spcAft>
                <a:spcPts val="600"/>
              </a:spcAft>
              <a:defRPr sz="1200">
                <a:solidFill>
                  <a:srgbClr val="6B7280"/>
                </a:solidFill>
                <a:latin typeface="Calibri"/>
              </a:defRPr>
            </a:pPr>
            <a:r>
              <a:t>Time-bound community challenges with bonus rewards</a:t>
            </a:r>
          </a:p>
          <a:p>
            <a:pPr>
              <a:spcAft>
                <a:spcPts val="600"/>
              </a:spcAft>
              <a:defRPr sz="1200">
                <a:solidFill>
                  <a:srgbClr val="6B7280"/>
                </a:solidFill>
                <a:latin typeface="Calibri"/>
              </a:defRPr>
            </a:pPr>
            <a:r>
              <a:t>Leaderboard with real-time rankings and level badges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566928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5669280" cy="64008"/>
          </a:xfrm>
          <a:prstGeom prst="rect">
            <a:avLst/>
          </a:prstGeom>
          <a:solidFill>
            <a:srgbClr val="16B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325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84C2E"/>
                </a:solidFill>
                <a:latin typeface="Calibri"/>
              </a:defRPr>
            </a:pPr>
            <a:r>
              <a:t>9-Level Progression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78308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Level 1:  Seedling  ·················  0 points</a:t>
            </a:r>
          </a:p>
          <a:p>
            <a:pPr>
              <a:spcAft>
                <a:spcPts val="3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Level 2:  Sapling  ··················  100 points</a:t>
            </a:r>
          </a:p>
          <a:p>
            <a:pPr>
              <a:spcAft>
                <a:spcPts val="3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Level 3:  Green Warrior  ···········  500 points</a:t>
            </a:r>
          </a:p>
          <a:p>
            <a:pPr>
              <a:spcAft>
                <a:spcPts val="3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Level 4:  Eco Guardian  ············  1,500 points</a:t>
            </a:r>
          </a:p>
          <a:p>
            <a:pPr>
              <a:spcAft>
                <a:spcPts val="3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Level 5:  Nature Keeper  ···········  5,000 points</a:t>
            </a:r>
          </a:p>
          <a:p>
            <a:pPr>
              <a:spcAft>
                <a:spcPts val="3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Level 6:  Sustainability Hero  ····  10,000 points</a:t>
            </a:r>
          </a:p>
          <a:p>
            <a:pPr>
              <a:spcAft>
                <a:spcPts val="3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Level 7:  Climate Champion  ·······  25,000 points</a:t>
            </a:r>
          </a:p>
          <a:p>
            <a:pPr>
              <a:spcAft>
                <a:spcPts val="3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Level 8:  Ecosystem Architect  ···  50,000 points</a:t>
            </a:r>
          </a:p>
          <a:p>
            <a:pPr>
              <a:spcAft>
                <a:spcPts val="3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Level 9:  Planetary Guardian  ····  100,000 points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114800"/>
            <a:ext cx="11430000" cy="2286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206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2400E"/>
                </a:solidFill>
                <a:latin typeface="Calibri"/>
              </a:defRPr>
            </a:pPr>
            <a:r>
              <a:t>Carbon Credit Aggregation — The Next Step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66344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78350F"/>
                </a:solidFill>
                <a:latin typeface="Calibri"/>
              </a:defRPr>
            </a:pPr>
            <a:r>
              <a:t>Every EcoPoints activity maps to measurable kg CO₂ saved</a:t>
            </a:r>
          </a:p>
          <a:p>
            <a:pPr>
              <a:spcAft>
                <a:spcPts val="500"/>
              </a:spcAft>
              <a:defRPr sz="1200">
                <a:solidFill>
                  <a:srgbClr val="78350F"/>
                </a:solidFill>
                <a:latin typeface="Calibri"/>
              </a:defRPr>
            </a:pPr>
            <a:r>
              <a:t>Individual micro-actions are aggregated into verified carbon credits</a:t>
            </a:r>
          </a:p>
          <a:p>
            <a:pPr>
              <a:spcAft>
                <a:spcPts val="500"/>
              </a:spcAft>
              <a:defRPr sz="1200">
                <a:solidFill>
                  <a:srgbClr val="78350F"/>
                </a:solidFill>
                <a:latin typeface="Calibri"/>
              </a:defRPr>
            </a:pPr>
            <a:r>
              <a:t>Credits can be traded on carbon offset marketplaces</a:t>
            </a:r>
          </a:p>
          <a:p>
            <a:pPr>
              <a:spcAft>
                <a:spcPts val="500"/>
              </a:spcAft>
              <a:defRPr sz="1200">
                <a:solidFill>
                  <a:srgbClr val="78350F"/>
                </a:solidFill>
                <a:latin typeface="Calibri"/>
              </a:defRPr>
            </a:pPr>
            <a:r>
              <a:t>Institutions earn revenue from collective sustainability efforts</a:t>
            </a:r>
          </a:p>
          <a:p>
            <a:pPr>
              <a:spcAft>
                <a:spcPts val="500"/>
              </a:spcAft>
              <a:defRPr sz="1200">
                <a:solidFill>
                  <a:srgbClr val="78350F"/>
                </a:solidFill>
                <a:latin typeface="Calibri"/>
              </a:defRPr>
            </a:pPr>
            <a:r>
              <a:t>Bridges the gap between personal habits and institutional ESG goals</a:t>
            </a:r>
          </a:p>
          <a:p>
            <a:pPr>
              <a:spcAft>
                <a:spcPts val="500"/>
              </a:spcAft>
              <a:defRPr sz="1200">
                <a:solidFill>
                  <a:srgbClr val="78350F"/>
                </a:solidFill>
                <a:latin typeface="Calibri"/>
              </a:defRPr>
            </a:pPr>
            <a:r>
              <a:t>Creates a genuine eco-economy where sustainability pays — literally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84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INNOVATION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3F8DF"/>
                </a:solidFill>
                <a:latin typeface="Calibri"/>
              </a:defRPr>
            </a:pPr>
            <a:r>
              <a:t>Advanced capabilities that set Ecoverse 360 apart</a:t>
            </a:r>
          </a:p>
        </p:txBody>
      </p:sp>
      <p:sp>
        <p:nvSpPr>
          <p:cNvPr id="5" name="Oval 4"/>
          <p:cNvSpPr/>
          <p:nvPr/>
        </p:nvSpPr>
        <p:spPr>
          <a:xfrm>
            <a:off x="11338560" y="228600"/>
            <a:ext cx="457200" cy="457200"/>
          </a:xfrm>
          <a:prstGeom prst="ellipse">
            <a:avLst/>
          </a:prstGeom>
          <a:solidFill>
            <a:srgbClr val="16B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27432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274320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34440" y="1417320"/>
            <a:ext cx="822960" cy="82296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150876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3774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Calibri"/>
              </a:defRPr>
            </a:pPr>
            <a:r>
              <a:t>Aerial Environmental</a:t>
            </a:r>
            <a:br/>
            <a:r>
              <a:t>Surveying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108960"/>
            <a:ext cx="2377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• Drone-mounted sensor arrays</a:t>
            </a:r>
          </a:p>
          <a:p>
            <a:pPr>
              <a:spcAft>
                <a:spcPts val="6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• Cover large campus/city areas rapidly</a:t>
            </a:r>
          </a:p>
          <a:p>
            <a:pPr>
              <a:spcAft>
                <a:spcPts val="6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• Map pollution hotspots from above</a:t>
            </a:r>
          </a:p>
          <a:p>
            <a:pPr>
              <a:spcAft>
                <a:spcPts val="6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• On-demand deployment for events/incidents</a:t>
            </a:r>
          </a:p>
          <a:p>
            <a:pPr>
              <a:spcAft>
                <a:spcPts val="6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• Complements fixed IoT network coverage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1188720"/>
            <a:ext cx="27432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0" y="1188720"/>
            <a:ext cx="2743200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60520" y="1417320"/>
            <a:ext cx="822960" cy="82296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0520" y="150876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3774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Calibri"/>
              </a:defRPr>
            </a:pPr>
            <a:r>
              <a:t>Thermal Energy</a:t>
            </a:r>
            <a:br/>
            <a:r>
              <a:t>Recovery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108960"/>
            <a:ext cx="2377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• Capture waste heat from AC &amp; exhaust</a:t>
            </a:r>
          </a:p>
          <a:p>
            <a:pPr>
              <a:spcAft>
                <a:spcPts val="6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• Redirect for water pre-heating / warm air</a:t>
            </a:r>
          </a:p>
          <a:p>
            <a:pPr>
              <a:spcAft>
                <a:spcPts val="6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• Thermoelectric generators for small power</a:t>
            </a:r>
          </a:p>
          <a:p>
            <a:pPr>
              <a:spcAft>
                <a:spcPts val="6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• Monitor thermal waste via IoT sensors</a:t>
            </a:r>
          </a:p>
          <a:p>
            <a:pPr>
              <a:spcAft>
                <a:spcPts val="6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• Can reduce HVAC costs by 15-25%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188720"/>
            <a:ext cx="27432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1188720"/>
            <a:ext cx="274320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86600" y="1417320"/>
            <a:ext cx="822960" cy="8229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6600" y="150876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3774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Calibri"/>
              </a:defRPr>
            </a:pPr>
            <a:r>
              <a:t>Smart Building</a:t>
            </a:r>
            <a:br/>
            <a:r>
              <a:t>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108960"/>
            <a:ext cx="2377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• Occupancy-aware HVAC/lighting control</a:t>
            </a:r>
          </a:p>
          <a:p>
            <a:pPr>
              <a:spcAft>
                <a:spcPts val="6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• PIR + CO₂ occupancy estimation</a:t>
            </a:r>
          </a:p>
          <a:p>
            <a:pPr>
              <a:spcAft>
                <a:spcPts val="6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• Auto-dim empty zones, pre-cool busy ones</a:t>
            </a:r>
          </a:p>
          <a:p>
            <a:pPr>
              <a:spcAft>
                <a:spcPts val="6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• Schedule optimization with weather data</a:t>
            </a:r>
          </a:p>
          <a:p>
            <a:pPr>
              <a:spcAft>
                <a:spcPts val="6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• 40% energy savings in under-utilized areas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1188720"/>
            <a:ext cx="27432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2560" y="1188720"/>
            <a:ext cx="2743200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012680" y="1417320"/>
            <a:ext cx="822960" cy="822960"/>
          </a:xfrm>
          <a:prstGeom prst="ellipse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12680" y="150876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23774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1A2E"/>
                </a:solidFill>
                <a:latin typeface="Calibri"/>
              </a:defRPr>
            </a:pPr>
            <a:r>
              <a:t>Micro-Zone</a:t>
            </a:r>
            <a:br/>
            <a:r>
              <a:t>Environmental Sculpting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3108960"/>
            <a:ext cx="2377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• AI-directed block/street level interventions</a:t>
            </a:r>
          </a:p>
          <a:p>
            <a:pPr>
              <a:spcAft>
                <a:spcPts val="6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• Localized air quality improvement plans</a:t>
            </a:r>
          </a:p>
          <a:p>
            <a:pPr>
              <a:spcAft>
                <a:spcPts val="6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• Targeted vegetation &amp; shade placement</a:t>
            </a:r>
          </a:p>
          <a:p>
            <a:pPr>
              <a:spcAft>
                <a:spcPts val="6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• Real-time zone health monitoring</a:t>
            </a:r>
          </a:p>
          <a:p>
            <a:pPr>
              <a:spcAft>
                <a:spcPts val="6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• Urban heat island mitigation at micro scale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84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PROOF OF CONCEPT — ALREADY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3F8DF"/>
                </a:solidFill>
                <a:latin typeface="Calibri"/>
              </a:defRPr>
            </a:pPr>
            <a:r>
              <a:t>A Resource-aware Digital Twin Framework for Precision Micro-farming</a:t>
            </a:r>
          </a:p>
        </p:txBody>
      </p:sp>
      <p:sp>
        <p:nvSpPr>
          <p:cNvPr id="5" name="Oval 4"/>
          <p:cNvSpPr/>
          <p:nvPr/>
        </p:nvSpPr>
        <p:spPr>
          <a:xfrm>
            <a:off x="11338560" y="228600"/>
            <a:ext cx="457200" cy="457200"/>
          </a:xfrm>
          <a:prstGeom prst="ellipse">
            <a:avLst/>
          </a:prstGeom>
          <a:solidFill>
            <a:srgbClr val="16B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0" y="1097280"/>
            <a:ext cx="3200400" cy="411480"/>
          </a:xfrm>
          <a:prstGeom prst="roundRect">
            <a:avLst/>
          </a:prstGeom>
          <a:solidFill>
            <a:srgbClr val="16B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115568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github.com/Am4l-babu/S6-MINI-PROJECT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645920"/>
            <a:ext cx="73152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B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645920"/>
            <a:ext cx="109728" cy="1280160"/>
          </a:xfrm>
          <a:prstGeom prst="rect">
            <a:avLst/>
          </a:prstGeom>
          <a:solidFill>
            <a:srgbClr val="16B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190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6B364"/>
                </a:solidFill>
                <a:latin typeface="Calibri"/>
              </a:defRPr>
            </a:pPr>
            <a:r>
              <a:t>EDGE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116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ESP32-S3 with DHT22 (temp/humidity), LDR (light),</a:t>
            </a:r>
            <a:br/>
            <a:r>
              <a:t>Capacitive Soil Moisture — publishes every 10 seconds via MQTT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108960"/>
            <a:ext cx="73152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3108960"/>
            <a:ext cx="109728" cy="1280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18211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B82F6"/>
                </a:solidFill>
                <a:latin typeface="Calibri"/>
              </a:defRPr>
            </a:pPr>
            <a:r>
              <a:t>FOG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47472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Mosquitto MQTT Broker + Data Validation + Emergency Auto-Control</a:t>
            </a:r>
            <a:br/>
            <a:r>
              <a:t>Redis hot buffer + SQLite cold buffer — works offline!</a:t>
            </a:r>
            <a:br/>
            <a:r>
              <a:t>Auto-irrigation (soil&lt;30%) · Heat protection (temp&gt;35°C) · Cloud Sync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754880"/>
            <a:ext cx="73152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B7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4754880"/>
            <a:ext cx="109728" cy="1280160"/>
          </a:xfrm>
          <a:prstGeom prst="rect">
            <a:avLst/>
          </a:prstGeom>
          <a:solidFill>
            <a:srgbClr val="9B7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82803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9B70F1"/>
                </a:solidFill>
                <a:latin typeface="Calibri"/>
              </a:defRPr>
            </a:pPr>
            <a:r>
              <a:t>CLOUD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12064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FastAPI REST API + SQLite + Digital Twin Engine</a:t>
            </a:r>
            <a:br/>
            <a:r>
              <a:t>Physics: Water Balance (ΔS = P+I-ET-D-R) + Penman-Monteith ET</a:t>
            </a:r>
            <a:br/>
            <a:r>
              <a:t>Next.js Dashboard with real-time WebSocket + Historical Charts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1645920"/>
            <a:ext cx="3749039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1645920"/>
            <a:ext cx="3749039" cy="54864"/>
          </a:xfrm>
          <a:prstGeom prst="rect">
            <a:avLst/>
          </a:prstGeom>
          <a:solidFill>
            <a:srgbClr val="16B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178308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6B364"/>
                </a:solidFill>
                <a:latin typeface="Calibri"/>
              </a:defRPr>
            </a:pPr>
            <a:r>
              <a:t>10s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18288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Sensor Polling</a:t>
            </a:r>
            <a:br/>
            <a:r>
              <a:t>Interval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2880360"/>
            <a:ext cx="3749039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0" y="2880360"/>
            <a:ext cx="3749039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301752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3B82F6"/>
                </a:solidFill>
                <a:latin typeface="Calibri"/>
              </a:defRPr>
            </a:pPr>
            <a:r>
              <a:t>5+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306324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Docker</a:t>
            </a:r>
            <a:br/>
            <a:r>
              <a:t>Services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4114800"/>
            <a:ext cx="3749039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20" y="4114800"/>
            <a:ext cx="3749039" cy="54864"/>
          </a:xfrm>
          <a:prstGeom prst="rect">
            <a:avLst/>
          </a:prstGeom>
          <a:solidFill>
            <a:srgbClr val="9B7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425196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9B70F1"/>
                </a:solidFill>
                <a:latin typeface="Calibri"/>
              </a:defRPr>
            </a:pPr>
            <a:r>
              <a:t>10+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0" y="429768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API</a:t>
            </a:r>
            <a:br/>
            <a:r>
              <a:t>Endpoints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5349240"/>
            <a:ext cx="3749039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6720" y="5349240"/>
            <a:ext cx="3749039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0" y="5486400"/>
            <a:ext cx="1280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4B8A6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09760" y="55321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Offline</a:t>
            </a:r>
            <a:br/>
            <a:r>
              <a:t>Capable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84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3F8DF"/>
                </a:solidFill>
                <a:latin typeface="Calibri"/>
              </a:defRPr>
            </a:pPr>
            <a:r>
              <a:t>Built with production-grade tools — ready to scale</a:t>
            </a:r>
          </a:p>
        </p:txBody>
      </p:sp>
      <p:sp>
        <p:nvSpPr>
          <p:cNvPr id="5" name="Oval 4"/>
          <p:cNvSpPr/>
          <p:nvPr/>
        </p:nvSpPr>
        <p:spPr>
          <a:xfrm>
            <a:off x="11338560" y="228600"/>
            <a:ext cx="457200" cy="457200"/>
          </a:xfrm>
          <a:prstGeom prst="ellipse">
            <a:avLst/>
          </a:prstGeom>
          <a:solidFill>
            <a:srgbClr val="16B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3749039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3749039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Python 3.12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737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Async, ML, IoT ecosystem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194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FastAPI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194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Fastest Python web framework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51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SQLAlchemy 2.0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2651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Async ORM, relationships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108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Calibri"/>
              </a:defRPr>
            </a:pPr>
            <a:r>
              <a:t>Pydantic v2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108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Rust-powered validation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1188720"/>
            <a:ext cx="3749039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06240" y="1188720"/>
            <a:ext cx="3749039" cy="64008"/>
          </a:xfrm>
          <a:prstGeom prst="rect">
            <a:avLst/>
          </a:prstGeom>
          <a:solidFill>
            <a:srgbClr val="9B7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13258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ML /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1737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B70F1"/>
                </a:solidFill>
                <a:latin typeface="Calibri"/>
              </a:defRPr>
            </a:pPr>
            <a:r>
              <a:t>scikit-learn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1737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RandomForest, GradientBoosting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2194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B70F1"/>
                </a:solidFill>
                <a:latin typeface="Calibri"/>
              </a:defRPr>
            </a:pPr>
            <a:r>
              <a:t>pandas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2194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Data manipulation, time-series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2651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B70F1"/>
                </a:solidFill>
                <a:latin typeface="Calibri"/>
              </a:defRPr>
            </a:pPr>
            <a:r>
              <a:t>numpy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2651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Numerical computing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108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B70F1"/>
                </a:solidFill>
                <a:latin typeface="Calibri"/>
              </a:defRPr>
            </a:pPr>
            <a:r>
              <a:t>Physics Engine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3108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Custom water balance models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1188720"/>
            <a:ext cx="3749039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38160" y="1188720"/>
            <a:ext cx="3749039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13258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1737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PostgreSQL 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17373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ACID, JSONB, triggers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2194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Redis 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2194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Sub-ms cache, pub/sub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2651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SQLite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58400" y="2651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Fog offline buffer layer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3108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Calibri"/>
              </a:defRPr>
            </a:pPr>
            <a:r>
              <a:t>Materialized Views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0" y="3108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Pre-computed analytics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74320" y="3931920"/>
            <a:ext cx="3749039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74320" y="3931920"/>
            <a:ext cx="3749039" cy="64008"/>
          </a:xfrm>
          <a:prstGeom prst="rect">
            <a:avLst/>
          </a:prstGeom>
          <a:solidFill>
            <a:srgbClr val="16B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40690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4480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B364"/>
                </a:solidFill>
                <a:latin typeface="Calibri"/>
              </a:defRPr>
            </a:pPr>
            <a:r>
              <a:t>Next.js 14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94560" y="4480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React SSR + App Router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4937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B364"/>
                </a:solidFill>
                <a:latin typeface="Calibri"/>
              </a:defRPr>
            </a:pPr>
            <a:r>
              <a:t>Tailwind CSS 3.4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94560" y="4937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Utility-first responsive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5394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B364"/>
                </a:solidFill>
                <a:latin typeface="Calibri"/>
              </a:defRPr>
            </a:pPr>
            <a:r>
              <a:t>Recharts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94560" y="5394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Data visualization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5852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6B364"/>
                </a:solidFill>
                <a:latin typeface="Calibri"/>
              </a:defRPr>
            </a:pPr>
            <a:r>
              <a:t>Zustand 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94560" y="5852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Minimal state management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206240" y="3931920"/>
            <a:ext cx="3749039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206240" y="3931920"/>
            <a:ext cx="3749039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89120" y="40690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IoT / Edge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80560" y="4480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4B8A6"/>
                </a:solidFill>
                <a:latin typeface="Calibri"/>
              </a:defRPr>
            </a:pPr>
            <a:r>
              <a:t>ESP32 / ESP32-S3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126480" y="4480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WiFi+BLE, 12-bit ADC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480560" y="4937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4B8A6"/>
                </a:solidFill>
                <a:latin typeface="Calibri"/>
              </a:defRPr>
            </a:pPr>
            <a:r>
              <a:t>ESP8266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26480" y="4937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Low-cost WiFi MCU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480560" y="5394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4B8A6"/>
                </a:solidFill>
                <a:latin typeface="Calibri"/>
              </a:defRPr>
            </a:pPr>
            <a:r>
              <a:t>PlatformIO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126480" y="5394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Embedded IDE+libraries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480560" y="5852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4B8A6"/>
                </a:solidFill>
                <a:latin typeface="Calibri"/>
              </a:defRPr>
            </a:pPr>
            <a:r>
              <a:t>MQTT Protocol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126480" y="5852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Lightweight IoT pub/sub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138160" y="3931920"/>
            <a:ext cx="3749039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138160" y="3931920"/>
            <a:ext cx="3749039" cy="6400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321040" y="40690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Calibri"/>
              </a:defRPr>
            </a:pPr>
            <a:r>
              <a:t>DevOps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412480" y="4480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Calibri"/>
              </a:defRPr>
            </a:pPr>
            <a:r>
              <a:t>Docker Compose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058400" y="44805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Multi-service orchestration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412480" y="4937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Calibri"/>
              </a:defRPr>
            </a:pPr>
            <a:r>
              <a:t>Mosquitto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58400" y="4937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MQTT broker + WebSocket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412480" y="5394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Calibri"/>
              </a:defRPr>
            </a:pPr>
            <a:r>
              <a:t>GitHub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058400" y="5394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Version control + CI/CD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412480" y="5852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4748B"/>
                </a:solidFill>
                <a:latin typeface="Calibri"/>
              </a:defRPr>
            </a:pPr>
            <a:r>
              <a:t>Swagger UI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058400" y="58521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Auto API documentation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84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3F8DF"/>
                </a:solidFill>
                <a:latin typeface="Calibri"/>
              </a:defRPr>
            </a:pPr>
            <a:r>
              <a:t>Scaling from campuses to cities — a 4-phase rollout strategy</a:t>
            </a:r>
          </a:p>
        </p:txBody>
      </p:sp>
      <p:sp>
        <p:nvSpPr>
          <p:cNvPr id="5" name="Oval 4"/>
          <p:cNvSpPr/>
          <p:nvPr/>
        </p:nvSpPr>
        <p:spPr>
          <a:xfrm>
            <a:off x="11338560" y="228600"/>
            <a:ext cx="457200" cy="457200"/>
          </a:xfrm>
          <a:prstGeom prst="ellipse">
            <a:avLst/>
          </a:prstGeom>
          <a:solidFill>
            <a:srgbClr val="16B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25603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2560320" cy="73152"/>
          </a:xfrm>
          <a:prstGeom prst="rect">
            <a:avLst/>
          </a:prstGeom>
          <a:solidFill>
            <a:srgbClr val="16B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88720" y="1417320"/>
            <a:ext cx="640080" cy="640080"/>
          </a:xfrm>
          <a:prstGeom prst="ellipse">
            <a:avLst/>
          </a:prstGeom>
          <a:solidFill>
            <a:srgbClr val="16B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463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Calibri"/>
              </a:defRPr>
            </a:pPr>
            <a:r>
              <a:t>Educational</a:t>
            </a:r>
            <a:br/>
            <a:r>
              <a:t>Institutions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6517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Colleges · Schools · Universities</a:t>
            </a:r>
            <a:br/>
            <a:br/>
            <a:r>
              <a:t>• Campus IoT sensor network</a:t>
            </a:r>
            <a:br/>
            <a:r>
              <a:t>• Student EcoPoints engagement</a:t>
            </a:r>
            <a:br/>
            <a:r>
              <a:t>• Digital Twin for campus ops</a:t>
            </a:r>
            <a:br/>
            <a:r>
              <a:t>• Precision farming lab</a:t>
            </a:r>
            <a:br/>
            <a:r>
              <a:t>• Research API for students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206240"/>
            <a:ext cx="1463040" cy="274320"/>
          </a:xfrm>
          <a:prstGeom prst="roundRect">
            <a:avLst/>
          </a:prstGeom>
          <a:solidFill>
            <a:srgbClr val="16B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062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ACTIVE NOW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7520" y="1188720"/>
            <a:ext cx="25603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017520" y="1188720"/>
            <a:ext cx="256032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931920" y="1417320"/>
            <a:ext cx="640080" cy="6400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0" y="1463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Calibri"/>
              </a:defRPr>
            </a:pPr>
            <a:r>
              <a:t>Residential</a:t>
            </a:r>
            <a:br/>
            <a:r>
              <a:t>Communities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26517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Homes · Apartments · Communities</a:t>
            </a:r>
            <a:br/>
            <a:br/>
            <a:r>
              <a:t>• Plug-and-play sensor kits</a:t>
            </a:r>
            <a:br/>
            <a:r>
              <a:t>• Household carbon calculator</a:t>
            </a:r>
            <a:br/>
            <a:r>
              <a:t>• Rooftop farm integration</a:t>
            </a:r>
            <a:br/>
            <a:r>
              <a:t>• Waste heat recovery from AC</a:t>
            </a:r>
            <a:br/>
            <a:r>
              <a:t>• Community leaderboards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66160" y="4206240"/>
            <a:ext cx="1463040" cy="2743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6160" y="42062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Q3 2026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2880360" y="2743200"/>
            <a:ext cx="228600" cy="36576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ight Arrow 22"/>
          <p:cNvSpPr/>
          <p:nvPr/>
        </p:nvSpPr>
        <p:spPr>
          <a:xfrm>
            <a:off x="5623560" y="2743200"/>
            <a:ext cx="228600" cy="36576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ight Arrow 23"/>
          <p:cNvSpPr/>
          <p:nvPr/>
        </p:nvSpPr>
        <p:spPr>
          <a:xfrm>
            <a:off x="8366760" y="2743200"/>
            <a:ext cx="228600" cy="36576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760720" y="1188720"/>
            <a:ext cx="25603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760720" y="1188720"/>
            <a:ext cx="25603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75120" y="141732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1463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97880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Calibri"/>
              </a:defRPr>
            </a:pPr>
            <a:r>
              <a:t>Government &amp;</a:t>
            </a:r>
            <a:br/>
            <a:r>
              <a:t>Public Sector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97880" y="26517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Buildings · Parks · Transit Hubs</a:t>
            </a:r>
            <a:br/>
            <a:br/>
            <a:r>
              <a:t>• Building energy monitoring</a:t>
            </a:r>
            <a:br/>
            <a:r>
              <a:t>• Smart park irrigation</a:t>
            </a:r>
            <a:br/>
            <a:r>
              <a:t>• Energy tiles at transit hubs</a:t>
            </a:r>
            <a:br/>
            <a:r>
              <a:t>• Citizen EcoPoints app</a:t>
            </a:r>
            <a:br/>
            <a:r>
              <a:t>• ESG compliance reports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09360" y="4206240"/>
            <a:ext cx="1463040" cy="2743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42062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Q1 2027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503920" y="1188720"/>
            <a:ext cx="256032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503920" y="1188720"/>
            <a:ext cx="2560320" cy="73152"/>
          </a:xfrm>
          <a:prstGeom prst="rect">
            <a:avLst/>
          </a:prstGeom>
          <a:solidFill>
            <a:srgbClr val="9B7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418320" y="1417320"/>
            <a:ext cx="640080" cy="640080"/>
          </a:xfrm>
          <a:prstGeom prst="ellipse">
            <a:avLst/>
          </a:prstGeom>
          <a:solidFill>
            <a:srgbClr val="9B7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8320" y="1463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41080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2E"/>
                </a:solidFill>
                <a:latin typeface="Calibri"/>
              </a:defRPr>
            </a:pPr>
            <a:r>
              <a:t>Private Sector</a:t>
            </a:r>
            <a:br/>
            <a:r>
              <a:t>&amp; Enterprise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41080" y="265176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B7280"/>
                </a:solidFill>
                <a:latin typeface="Calibri"/>
              </a:defRPr>
            </a:pPr>
            <a:r>
              <a:t>Offices · Factories · Industry</a:t>
            </a:r>
            <a:br/>
            <a:br/>
            <a:r>
              <a:t>• Smart building automation</a:t>
            </a:r>
            <a:br/>
            <a:r>
              <a:t>• Factory emissions monitoring</a:t>
            </a:r>
            <a:br/>
            <a:r>
              <a:t>• Waste heat-to-energy systems</a:t>
            </a:r>
            <a:br/>
            <a:r>
              <a:t>• Multi-facility federation</a:t>
            </a:r>
            <a:br/>
            <a:r>
              <a:t>• Carbon credit trading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52560" y="4206240"/>
            <a:ext cx="1463040" cy="274320"/>
          </a:xfrm>
          <a:prstGeom prst="roundRect">
            <a:avLst/>
          </a:prstGeom>
          <a:solidFill>
            <a:srgbClr val="9B7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52560" y="42062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2027+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4320" y="5029200"/>
            <a:ext cx="11612880" cy="1371600"/>
          </a:xfrm>
          <a:prstGeom prst="roundRect">
            <a:avLst/>
          </a:prstGeom>
          <a:solidFill>
            <a:srgbClr val="EDFCF2"/>
          </a:solidFill>
          <a:ln w="12700">
            <a:solidFill>
              <a:srgbClr val="16B3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5166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84C2E"/>
                </a:solidFill>
                <a:latin typeface="Calibri"/>
              </a:defRPr>
            </a:pPr>
            <a:r>
              <a:t>Why This Sequence Works: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55321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1. Students are most receptive — campuses are ideal controlled environments for piloting</a:t>
            </a:r>
          </a:p>
          <a:p>
            <a:pPr>
              <a:spcAft>
                <a:spcPts val="3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2. Proven campus tech scales naturally to homes with simplified sensor kits</a:t>
            </a:r>
          </a:p>
          <a:p>
            <a:pPr>
              <a:spcAft>
                <a:spcPts val="3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3. Government adoption enabled by proven impact data from Phase 1 &amp; 2</a:t>
            </a:r>
          </a:p>
          <a:p>
            <a:pPr>
              <a:spcAft>
                <a:spcPts val="3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4. Enterprise sector values verified carbon credits and ESG compliance infrastructure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84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IMPACT &amp;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3F8DF"/>
                </a:solidFill>
                <a:latin typeface="Calibri"/>
              </a:defRPr>
            </a:pPr>
            <a:r>
              <a:t>Measurable sustainability outcomes — not just ideas, but results</a:t>
            </a:r>
          </a:p>
        </p:txBody>
      </p:sp>
      <p:sp>
        <p:nvSpPr>
          <p:cNvPr id="5" name="Oval 4"/>
          <p:cNvSpPr/>
          <p:nvPr/>
        </p:nvSpPr>
        <p:spPr>
          <a:xfrm>
            <a:off x="11338560" y="228600"/>
            <a:ext cx="457200" cy="457200"/>
          </a:xfrm>
          <a:prstGeom prst="ellipse">
            <a:avLst/>
          </a:prstGeom>
          <a:solidFill>
            <a:srgbClr val="16B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20116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20116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3716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B82F6"/>
                </a:solidFill>
                <a:latin typeface="Calibri"/>
              </a:defRPr>
            </a:pPr>
            <a:r>
              <a:t>35+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057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API Endpoints</a:t>
            </a:r>
            <a:br/>
            <a:r>
              <a:t>Across 2 Repos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6040" y="1188720"/>
            <a:ext cx="20116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06040" y="1188720"/>
            <a:ext cx="2011680" cy="54864"/>
          </a:xfrm>
          <a:prstGeom prst="rect">
            <a:avLst/>
          </a:prstGeom>
          <a:solidFill>
            <a:srgbClr val="16B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13716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6B364"/>
                </a:solidFill>
                <a:latin typeface="Calibri"/>
              </a:defRPr>
            </a:pPr>
            <a:r>
              <a:t>117+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057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Files Built</a:t>
            </a:r>
            <a:br/>
            <a:r>
              <a:t>14,400+ Lines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1188720"/>
            <a:ext cx="20116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37760" y="1188720"/>
            <a:ext cx="201168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13716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4B8A6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057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IoT Device</a:t>
            </a:r>
            <a:br/>
            <a:r>
              <a:t>Types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9480" y="1188720"/>
            <a:ext cx="20116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69480" y="1188720"/>
            <a:ext cx="201168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69480" y="13716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59E0B"/>
                </a:solidFill>
                <a:latin typeface="Calibri"/>
              </a:defRPr>
            </a:pPr>
            <a:r>
              <a:t>20+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2057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Database</a:t>
            </a:r>
            <a:br/>
            <a:r>
              <a:t>Tables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0" y="1188720"/>
            <a:ext cx="201168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601200" y="1188720"/>
            <a:ext cx="2011680" cy="54864"/>
          </a:xfrm>
          <a:prstGeom prst="rect">
            <a:avLst/>
          </a:prstGeom>
          <a:solidFill>
            <a:srgbClr val="9B7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0" y="13716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B70F1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2057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B7280"/>
                </a:solidFill>
                <a:latin typeface="Calibri"/>
              </a:defRPr>
            </a:pPr>
            <a:r>
              <a:t>ML Models +</a:t>
            </a:r>
            <a:br/>
            <a:r>
              <a:t>Physics Engine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2926080"/>
            <a:ext cx="56692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2926080"/>
            <a:ext cx="5669280" cy="64008"/>
          </a:xfrm>
          <a:prstGeom prst="rect">
            <a:avLst/>
          </a:prstGeom>
          <a:solidFill>
            <a:srgbClr val="16B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063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84C2E"/>
                </a:solidFill>
                <a:latin typeface="Calibri"/>
              </a:defRPr>
            </a:pPr>
            <a:r>
              <a:t>Projected Environmental Impact (Per Campus/Year)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52044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→ 30-40% reduction in waste overflow incidents</a:t>
            </a:r>
          </a:p>
          <a:p>
            <a:pPr>
              <a:spcAft>
                <a:spcPts val="5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→ Early air quality warnings → fewer health incidents</a:t>
            </a:r>
          </a:p>
          <a:p>
            <a:pPr>
              <a:spcAft>
                <a:spcPts val="5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→ 15-25% energy savings from occupancy-aware optimization</a:t>
            </a:r>
          </a:p>
          <a:p>
            <a:pPr>
              <a:spcAft>
                <a:spcPts val="5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→ 20%+ water savings from precision irrigation intelligence</a:t>
            </a:r>
          </a:p>
          <a:p>
            <a:pPr>
              <a:spcAft>
                <a:spcPts val="5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→ Measurable CO₂ reduction per participant via EcoPoints</a:t>
            </a:r>
          </a:p>
          <a:p>
            <a:pPr>
              <a:spcAft>
                <a:spcPts val="5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→ Tonnes of verified carbon credits from collective actions</a:t>
            </a:r>
          </a:p>
          <a:p>
            <a:pPr>
              <a:spcAft>
                <a:spcPts val="5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→ Data-driven allocation of sustainability budgets</a:t>
            </a:r>
          </a:p>
          <a:p>
            <a:pPr>
              <a:spcAft>
                <a:spcPts val="5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→ Student engagement rates 5× higher with gamification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2926080"/>
            <a:ext cx="56692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2926080"/>
            <a:ext cx="5669280" cy="64008"/>
          </a:xfrm>
          <a:prstGeom prst="rect">
            <a:avLst/>
          </a:prstGeom>
          <a:solidFill>
            <a:srgbClr val="9B7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3063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84C2E"/>
                </a:solidFill>
                <a:latin typeface="Calibri"/>
              </a:defRPr>
            </a:pPr>
            <a:r>
              <a:t>What Sets Ecoverse 360 Apart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352044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✦ Not just monitoring — we PREDICT, SIMULATE, and REWARD</a:t>
            </a:r>
          </a:p>
          <a:p>
            <a:pPr>
              <a:spcAft>
                <a:spcPts val="5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✦ Only platform combining IoT + Digital Twin + ML + Gamification</a:t>
            </a:r>
          </a:p>
          <a:p>
            <a:pPr>
              <a:spcAft>
                <a:spcPts val="5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✦ Physics-based Digital Twin (not just data aggregation)</a:t>
            </a:r>
          </a:p>
          <a:p>
            <a:pPr>
              <a:spcAft>
                <a:spcPts val="5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✦ Fog-layer offline resilience — works without internet</a:t>
            </a:r>
          </a:p>
          <a:p>
            <a:pPr>
              <a:spcAft>
                <a:spcPts val="5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✦ Carbon credits from individual habits → institutional value</a:t>
            </a:r>
          </a:p>
          <a:p>
            <a:pPr>
              <a:spcAft>
                <a:spcPts val="5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✦ Proven proof-of-concept already operational (Plant DT)</a:t>
            </a:r>
          </a:p>
          <a:p>
            <a:pPr>
              <a:spcAft>
                <a:spcPts val="5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✦ Open architecture — modular, Docker-ready, API-first</a:t>
            </a:r>
          </a:p>
          <a:p>
            <a:pPr>
              <a:spcAft>
                <a:spcPts val="5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✦ 4-phase rollout: campus → home → city → enterprise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84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AYNO BOT — AUTONOMOUS GARDEN ROBOT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3F8DF"/>
                </a:solidFill>
                <a:latin typeface="Calibri"/>
              </a:defRPr>
            </a:pPr>
            <a:r>
              <a:t>A mobile extension of Ecoverse 360 — gardening, harvesting, cleaning, guarding</a:t>
            </a:r>
          </a:p>
        </p:txBody>
      </p:sp>
      <p:sp>
        <p:nvSpPr>
          <p:cNvPr id="5" name="Oval 4"/>
          <p:cNvSpPr/>
          <p:nvPr/>
        </p:nvSpPr>
        <p:spPr>
          <a:xfrm>
            <a:off x="11338560" y="228600"/>
            <a:ext cx="457200" cy="457200"/>
          </a:xfrm>
          <a:prstGeom prst="ellipse">
            <a:avLst/>
          </a:prstGeom>
          <a:solidFill>
            <a:srgbClr val="16B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5669280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669280" cy="64008"/>
          </a:xfrm>
          <a:prstGeom prst="rect">
            <a:avLst/>
          </a:prstGeom>
          <a:solidFill>
            <a:srgbClr val="16B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84C2E"/>
                </a:solidFill>
                <a:latin typeface="Calibri"/>
              </a:defRPr>
            </a:pPr>
            <a:r>
              <a:t>5 Roles, 1 Robot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8308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GARDENER — Soil moisture probing, automated watering with</a:t>
            </a:r>
          </a:p>
          <a:p>
            <a:pPr>
              <a:spcAft>
                <a:spcPts val="3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  small onboard tank, precision irrigation from soil data</a:t>
            </a:r>
          </a:p>
          <a:p>
            <a:pPr>
              <a:spcAft>
                <a:spcPts val="300"/>
              </a:spcAft>
              <a:defRPr sz="1100">
                <a:solidFill>
                  <a:srgbClr val="6B7280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HARVESTER — Soft-grip robotic arm collects nutmeg/fruit,</a:t>
            </a:r>
          </a:p>
          <a:p>
            <a:pPr>
              <a:spcAft>
                <a:spcPts val="3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  per-tree yield tracking, daily harvest reports</a:t>
            </a:r>
          </a:p>
          <a:p>
            <a:pPr>
              <a:spcAft>
                <a:spcPts val="300"/>
              </a:spcAft>
              <a:defRPr sz="1100">
                <a:solidFill>
                  <a:srgbClr val="6B7280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PLANT DOCTOR — RGB camera + AI scans leaves for decay,</a:t>
            </a:r>
          </a:p>
          <a:p>
            <a:pPr>
              <a:spcAft>
                <a:spcPts val="3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  disease, nutrient deficiency — early warning alerts</a:t>
            </a:r>
          </a:p>
          <a:p>
            <a:pPr>
              <a:spcAft>
                <a:spcPts val="300"/>
              </a:spcAft>
              <a:defRPr sz="1100">
                <a:solidFill>
                  <a:srgbClr val="6B7280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CLEANER — Scheduled front-area sweeping (morning + evening),</a:t>
            </a:r>
          </a:p>
          <a:p>
            <a:pPr>
              <a:spcAft>
                <a:spcPts val="3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  user-selectable cleaning zones via mobile app</a:t>
            </a:r>
          </a:p>
          <a:p>
            <a:pPr>
              <a:spcAft>
                <a:spcPts val="300"/>
              </a:spcAft>
              <a:defRPr sz="1100">
                <a:solidFill>
                  <a:srgbClr val="6B7280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GUARD &amp; PET — Person detection, friendly voice greeting,</a:t>
            </a:r>
          </a:p>
          <a:p>
            <a:pPr>
              <a:spcAft>
                <a:spcPts val="3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  unknown-presence alerts, camera recording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88720"/>
            <a:ext cx="56692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566928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325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84C2E"/>
                </a:solidFill>
                <a:latin typeface="Calibri"/>
              </a:defRPr>
            </a:pPr>
            <a:r>
              <a:t>Brain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78308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Mobile App (WiFi)  —  mapping, reports, manual override</a:t>
            </a:r>
          </a:p>
          <a:p>
            <a:pPr>
              <a:spcAft>
                <a:spcPts val="5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       ↓</a:t>
            </a:r>
          </a:p>
          <a:p>
            <a:pPr>
              <a:spcAft>
                <a:spcPts val="5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Edge AI (Jetson/RPi)  —  SLAM, leaf AI, path planning</a:t>
            </a:r>
          </a:p>
          <a:p>
            <a:pPr>
              <a:spcAft>
                <a:spcPts val="5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       ↓  UART / CAN</a:t>
            </a:r>
          </a:p>
          <a:p>
            <a:pPr>
              <a:spcAft>
                <a:spcPts val="500"/>
              </a:spcAft>
              <a:defRPr sz="1100">
                <a:solidFill>
                  <a:srgbClr val="6B7280"/>
                </a:solidFill>
                <a:latin typeface="Calibri"/>
              </a:defRPr>
            </a:pPr>
            <a:r>
              <a:t>RT MCU (ESP32/STM32)  —  motors, encoders, arm, sensors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931920"/>
            <a:ext cx="5669280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3931920"/>
            <a:ext cx="5669280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40690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84C2E"/>
                </a:solidFill>
                <a:latin typeface="Calibri"/>
              </a:defRPr>
            </a:pPr>
            <a:r>
              <a:t>Key Technical Details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4526280"/>
            <a:ext cx="51206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• 4-wheel differential drive + quadrature encoders</a:t>
            </a:r>
          </a:p>
          <a:p>
            <a:pPr>
              <a:spcAft>
                <a:spcPts val="3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• 2D LiDAR SLAM + IMU + wheel odometry</a:t>
            </a:r>
          </a:p>
          <a:p>
            <a:pPr>
              <a:spcAft>
                <a:spcPts val="3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• Cost-based path planning (distance + battery + water)</a:t>
            </a:r>
          </a:p>
          <a:p>
            <a:pPr>
              <a:spcAft>
                <a:spcPts val="3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• 4-5 DOF arm with swappable end effectors</a:t>
            </a:r>
          </a:p>
          <a:p>
            <a:pPr>
              <a:spcAft>
                <a:spcPts val="3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• WiFi-controlled tap refill for water tank</a:t>
            </a:r>
          </a:p>
          <a:p>
            <a:pPr>
              <a:spcAft>
                <a:spcPts val="3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• ArUco/AprilTag auto-dock charging station</a:t>
            </a:r>
          </a:p>
          <a:p>
            <a:pPr>
              <a:spcAft>
                <a:spcPts val="3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• Per-tree SLAM mapping with plant health profiles</a:t>
            </a:r>
          </a:p>
          <a:p>
            <a:pPr>
              <a:spcAft>
                <a:spcPts val="3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• Feeds data into Ecoverse Digital Twin ecosystem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84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ADVANCED TECHNOLOGY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D3F8DF"/>
                </a:solidFill>
                <a:latin typeface="Calibri"/>
              </a:defRPr>
            </a:pPr>
            <a:r>
              <a:t>Next-generation networking, edge AI, and architecture upgrades</a:t>
            </a:r>
          </a:p>
        </p:txBody>
      </p:sp>
      <p:sp>
        <p:nvSpPr>
          <p:cNvPr id="5" name="Oval 4"/>
          <p:cNvSpPr/>
          <p:nvPr/>
        </p:nvSpPr>
        <p:spPr>
          <a:xfrm>
            <a:off x="11338560" y="228600"/>
            <a:ext cx="457200" cy="457200"/>
          </a:xfrm>
          <a:prstGeom prst="ellipse">
            <a:avLst/>
          </a:prstGeom>
          <a:solidFill>
            <a:srgbClr val="16B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188720"/>
            <a:ext cx="3749039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3749039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258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Calibri"/>
              </a:defRPr>
            </a:pPr>
            <a:r>
              <a:t>Communication &amp; Networking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LoRa (Long Range)</a:t>
            </a:r>
          </a:p>
          <a:p>
            <a:pPr>
              <a:spcAft>
                <a:spcPts val="2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  Sub-GHz links spanning 2-15 km for remote</a:t>
            </a:r>
          </a:p>
          <a:p>
            <a:pPr>
              <a:spcAft>
                <a:spcPts val="2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  sensors beyond WiFi — ideal for Phase 3-4</a:t>
            </a:r>
          </a:p>
          <a:p>
            <a:pPr>
              <a:spcAft>
                <a:spcPts val="200"/>
              </a:spcAft>
              <a:defRPr sz="1000">
                <a:solidFill>
                  <a:srgbClr val="6B7280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LoRa Mesh / LoRaWAN</a:t>
            </a:r>
          </a:p>
          <a:p>
            <a:pPr>
              <a:spcAft>
                <a:spcPts val="2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  Multi-hop relay topology — extends coverage</a:t>
            </a:r>
          </a:p>
          <a:p>
            <a:pPr>
              <a:spcAft>
                <a:spcPts val="2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  across campuses, parks, industrial sites</a:t>
            </a:r>
          </a:p>
          <a:p>
            <a:pPr>
              <a:spcAft>
                <a:spcPts val="200"/>
              </a:spcAft>
              <a:defRPr sz="1000">
                <a:solidFill>
                  <a:srgbClr val="6B7280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BLE Mesh Network</a:t>
            </a:r>
          </a:p>
          <a:p>
            <a:pPr>
              <a:spcAft>
                <a:spcPts val="2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  Dense indoor sensor networks — occupancy</a:t>
            </a:r>
          </a:p>
          <a:p>
            <a:pPr>
              <a:spcAft>
                <a:spcPts val="2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  tracking, air quality mapping, HVAC control</a:t>
            </a:r>
          </a:p>
          <a:p>
            <a:pPr>
              <a:spcAft>
                <a:spcPts val="200"/>
              </a:spcAft>
              <a:defRPr sz="1000">
                <a:solidFill>
                  <a:srgbClr val="6B7280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OPC UA + MQTT Bridge</a:t>
            </a:r>
          </a:p>
          <a:p>
            <a:pPr>
              <a:spcAft>
                <a:spcPts val="2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  Industrial protocol bridging — connects</a:t>
            </a:r>
          </a:p>
          <a:p>
            <a:pPr>
              <a:spcAft>
                <a:spcPts val="2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  PLCs, SCADA to Ecoverse MQTT pipeline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188720"/>
            <a:ext cx="3749039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188720"/>
            <a:ext cx="3749039" cy="64008"/>
          </a:xfrm>
          <a:prstGeom prst="rect">
            <a:avLst/>
          </a:prstGeom>
          <a:solidFill>
            <a:srgbClr val="9B7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3258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B70F1"/>
                </a:solidFill>
                <a:latin typeface="Calibri"/>
              </a:defRPr>
            </a:pPr>
            <a:r>
              <a:t>Edge AI &amp; Neuromorphic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783080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SNN (Spiking Neural Networks)</a:t>
            </a:r>
          </a:p>
          <a:p>
            <a:pPr>
              <a:spcAft>
                <a:spcPts val="2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  Neuromorphic ultra-low-power edge AI —</a:t>
            </a:r>
          </a:p>
          <a:p>
            <a:pPr>
              <a:spcAft>
                <a:spcPts val="2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  event-driven, mimics biological neurons,</a:t>
            </a:r>
          </a:p>
          <a:p>
            <a:pPr>
              <a:spcAft>
                <a:spcPts val="2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  always-on anomaly detection without cloud</a:t>
            </a:r>
          </a:p>
          <a:p>
            <a:pPr>
              <a:spcAft>
                <a:spcPts val="200"/>
              </a:spcAft>
              <a:defRPr sz="1000">
                <a:solidFill>
                  <a:srgbClr val="6B7280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TinyML</a:t>
            </a:r>
          </a:p>
          <a:p>
            <a:pPr>
              <a:spcAft>
                <a:spcPts val="2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  Quantized ML on ESP32/STM32 —</a:t>
            </a:r>
          </a:p>
          <a:p>
            <a:pPr>
              <a:spcAft>
                <a:spcPts val="2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  on-device waste classification, anomaly</a:t>
            </a:r>
          </a:p>
          <a:p>
            <a:pPr>
              <a:spcAft>
                <a:spcPts val="2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  detection, predictive alerts, zero latency</a:t>
            </a:r>
          </a:p>
          <a:p>
            <a:pPr>
              <a:spcAft>
                <a:spcPts val="200"/>
              </a:spcAft>
              <a:defRPr sz="1000">
                <a:solidFill>
                  <a:srgbClr val="6B7280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Federated Learning</a:t>
            </a:r>
          </a:p>
          <a:p>
            <a:pPr>
              <a:spcAft>
                <a:spcPts val="2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  Cross-site model training without sharing</a:t>
            </a:r>
          </a:p>
          <a:p>
            <a:pPr>
              <a:spcAft>
                <a:spcPts val="2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  raw data — privacy-preserving, bandwidth-</a:t>
            </a:r>
          </a:p>
          <a:p>
            <a:pPr>
              <a:spcAft>
                <a:spcPts val="2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  efficient, campus-specific adaptation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188720"/>
            <a:ext cx="3749039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1188720"/>
            <a:ext cx="3749039" cy="640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3258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B8A6"/>
                </a:solidFill>
                <a:latin typeface="Calibri"/>
              </a:defRPr>
            </a:pPr>
            <a:r>
              <a:t>Architecture &amp; Simulation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783080"/>
            <a:ext cx="3383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Enhanced Edge-Fog-Cloud</a:t>
            </a:r>
          </a:p>
          <a:p>
            <a:pPr>
              <a:spcAft>
                <a:spcPts val="2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  SNNs at edge → fog aggregation →</a:t>
            </a:r>
          </a:p>
          <a:p>
            <a:pPr>
              <a:spcAft>
                <a:spcPts val="2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  cloud Twin simulation + ML training</a:t>
            </a:r>
          </a:p>
          <a:p>
            <a:pPr>
              <a:spcAft>
                <a:spcPts val="2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  + cross-site federation</a:t>
            </a:r>
          </a:p>
          <a:p>
            <a:pPr>
              <a:spcAft>
                <a:spcPts val="200"/>
              </a:spcAft>
              <a:defRPr sz="1000">
                <a:solidFill>
                  <a:srgbClr val="6B7280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Digital Twin Federation</a:t>
            </a:r>
          </a:p>
          <a:p>
            <a:pPr>
              <a:spcAft>
                <a:spcPts val="2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  Hierarchical twinning: room → building</a:t>
            </a:r>
          </a:p>
          <a:p>
            <a:pPr>
              <a:spcAft>
                <a:spcPts val="2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  → campus → city level — multi-scale</a:t>
            </a:r>
          </a:p>
          <a:p>
            <a:pPr>
              <a:spcAft>
                <a:spcPts val="2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  simulation and policy planning</a:t>
            </a:r>
          </a:p>
          <a:p>
            <a:pPr>
              <a:spcAft>
                <a:spcPts val="200"/>
              </a:spcAft>
              <a:defRPr sz="1000">
                <a:solidFill>
                  <a:srgbClr val="6B7280"/>
                </a:solidFill>
                <a:latin typeface="Calibri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Swarm Intelligence</a:t>
            </a:r>
          </a:p>
          <a:p>
            <a:pPr>
              <a:spcAft>
                <a:spcPts val="2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  Multi-AYNO Bot coordination — shared</a:t>
            </a:r>
          </a:p>
          <a:p>
            <a:pPr>
              <a:spcAft>
                <a:spcPts val="2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  mapping, distributed task allocation,</a:t>
            </a:r>
          </a:p>
          <a:p>
            <a:pPr>
              <a:spcAft>
                <a:spcPts val="200"/>
              </a:spcAft>
              <a:defRPr sz="1000">
                <a:solidFill>
                  <a:srgbClr val="6B7280"/>
                </a:solidFill>
                <a:latin typeface="Calibri"/>
              </a:defRPr>
            </a:pPr>
            <a:r>
              <a:t>  coverage optimization for large areas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6B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0A91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114800"/>
            <a:ext cx="4114800" cy="4114800"/>
          </a:xfrm>
          <a:prstGeom prst="ellipse">
            <a:avLst/>
          </a:prstGeom>
          <a:solidFill>
            <a:srgbClr val="087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0F0C4"/>
                </a:solidFill>
                <a:latin typeface="Calibri"/>
              </a:defRPr>
            </a:pPr>
            <a:r>
              <a:t>Because Every Space Can Be a</a:t>
            </a:r>
            <a:br/>
            <a:r>
              <a:t>Sustainable Ecosystem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6B364"/>
                </a:solidFill>
                <a:latin typeface="Calibri"/>
              </a:defRPr>
            </a:pPr>
            <a:r>
              <a:t>Main Platform:   github.com/Am4l-babu/ECOVERSE-360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6B364"/>
                </a:solidFill>
                <a:latin typeface="Calibri"/>
              </a:defRPr>
            </a:pPr>
            <a:r>
              <a:t>Plant Digital Twin:   github.com/Am4l-babu/S6-MINI-PROJECT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A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126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B7280"/>
                </a:solidFill>
                <a:latin typeface="Calibri"/>
              </a:defRPr>
            </a:pPr>
            <a:r>
              <a:t>Team Ecoverse  |  NAVA Eco Ideathon 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126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0">
                <a:solidFill>
                  <a:srgbClr val="16B364"/>
                </a:solidFill>
                <a:latin typeface="Calibri"/>
              </a:defRPr>
            </a:pPr>
            <a:r>
              <a:t>Adi Shankara Institute of Engineering &amp; Technology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212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B7280"/>
                </a:solidFill>
                <a:latin typeface="Calibri"/>
              </a:defRPr>
            </a:pPr>
            <a:r>
              <a:t>Questions &amp; Discussion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16/16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