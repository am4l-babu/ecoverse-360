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A9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87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48640"/>
            <a:ext cx="4114800" cy="457200"/>
          </a:xfrm>
          <a:prstGeom prst="roundRect">
            <a:avLst/>
          </a:prstGeom>
          <a:solidFill>
            <a:srgbClr val="0A9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NAVA ECO IDEATHON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6B364"/>
                </a:solidFill>
                <a:latin typeface="Calibri"/>
              </a:defRPr>
            </a:pPr>
            <a:r>
              <a:t>Eco-preneurship for a Sustainable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ECOVERSE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F0C4"/>
                </a:solidFill>
                <a:latin typeface="Calibri"/>
              </a:defRPr>
            </a:pPr>
            <a:r>
              <a:t>The Sustainability Operating System That</a:t>
            </a:r>
            <a:br/>
            <a:r>
              <a:t>Transforms Every Space Into an Eco-Intelligent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IoT Sensing  ·  Digital Twin  ·  Machine Learning  ·  Carbon Credits  ·  Gamification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Team Ecoverse  |  Adi Shankara Institute of Engineering &amp;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B364"/>
                </a:solidFill>
                <a:latin typeface="Calibri"/>
              </a:defRPr>
            </a:pPr>
            <a:r>
              <a:t>Center for AI-IoT Innovation &amp; IEDC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Why the world needs intelligent sustainability — NOW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36.8B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Tonnes CO₂</a:t>
            </a:r>
            <a:br/>
            <a:r>
              <a:t>emitted/year globally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Building energy</a:t>
            </a:r>
            <a:br/>
            <a:r>
              <a:t>wasted on empty rooms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0116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2B+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Tonnes of waste</a:t>
            </a:r>
            <a:br/>
            <a:r>
              <a:t>mismanaged annually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28016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People want to help</a:t>
            </a:r>
            <a:br/>
            <a:r>
              <a:t>but don't know 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C2E"/>
                </a:solidFill>
                <a:latin typeface="Calibri"/>
              </a:defRPr>
            </a:pPr>
            <a:r>
              <a:t>The Problems We're Solving: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70332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Buildings, campuses, and factories generate massive carbon footprints — invisible and untracked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17880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Air and water quality issues go undetected for hours in urban environments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654296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0857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40% of recyclable waste is misclassified — smart bins overflow before collection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129784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840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AC and exhaust systems dump recoverable thermal energy into the atmosphere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560527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595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Individual eco-friendly actions (recycling, carpooling, planting) earn zero recognition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608076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No platform connects sensing, prediction, simulation, and rewards in one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 complete sustainability operating system — from sensors to carbon credits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430000" cy="1188720"/>
          </a:xfrm>
          <a:prstGeom prst="roundRect">
            <a:avLst/>
          </a:prstGeom>
          <a:solidFill>
            <a:srgbClr val="EDFCF2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84C2E"/>
                </a:solidFill>
                <a:latin typeface="Calibri"/>
              </a:defRPr>
            </a:pPr>
            <a:r>
              <a:t>Ecoverse 360 connects IoT sensors across air, water, waste, agriculture, and energy domains — feeding real-time data into a Digital Twin that models your environment as a living simulation. ML models predict issues before they happen. Every sustainable action earns carbon credits through gamified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219456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971800"/>
            <a:ext cx="640080" cy="64008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200+ IoT sensors track</a:t>
            </a:r>
            <a:br/>
            <a:r>
              <a:t>air, water, waste, soil,</a:t>
            </a:r>
            <a:br/>
            <a:r>
              <a:t>and energy in real-time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2743200"/>
            <a:ext cx="21945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83280" y="29718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Digital Twin mirrors your</a:t>
            </a:r>
            <a:br/>
            <a:r>
              <a:t>environment — run what-if</a:t>
            </a:r>
            <a:br/>
            <a:r>
              <a:t>scenarios instantly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2743200"/>
            <a:ext cx="2194560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5000" y="2971800"/>
            <a:ext cx="640080" cy="640080"/>
          </a:xfrm>
          <a:prstGeom prst="ellipse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4 ML models forecast</a:t>
            </a:r>
            <a:br/>
            <a:r>
              <a:t>waste overflow, AQI,</a:t>
            </a:r>
            <a:br/>
            <a:r>
              <a:t>energy &amp; crop yield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274320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6720" y="29718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Reward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EcoPoints gamification</a:t>
            </a:r>
            <a:br/>
            <a:r>
              <a:t>turns daily green habits</a:t>
            </a:r>
            <a:br/>
            <a:r>
              <a:t>into carbon credits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2743200"/>
            <a:ext cx="2194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8440" y="297180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Campuses → Homes →</a:t>
            </a:r>
            <a:br/>
            <a:r>
              <a:t>Government → Factories</a:t>
            </a:r>
            <a:br/>
            <a:r>
              <a:t>across 4 rollout phases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Sensor Data  →  MQTT Pipeline  →  Digital Twin  →  ML Predictions  →  Dashboard  →  EcoPoints  →  Carbon Credits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6-layer architecture — from physical sensors to carbon economy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77724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 — PHYSICAL /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Smart Bins · Air Monitors · Water Probes · Vertical Farm · Energy Tiles · Precision Farm Edge (ESP32-S3)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65960"/>
            <a:ext cx="11430000" cy="777240"/>
          </a:xfrm>
          <a:prstGeom prst="roundRect">
            <a:avLst/>
          </a:prstGeom>
          <a:solidFill>
            <a:srgbClr val="0D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 — 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Mosquitto MQTT Broker · Fog Gateway (validation + emergency control) · Offline Buffer · Cloud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834640"/>
            <a:ext cx="1143000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3 —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PostgreSQL 16 (18+ tables, JSONB, triggers) · Redis 7 (cache, pub/sub) · SQLite (fog buffer)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03320"/>
            <a:ext cx="11430000" cy="777240"/>
          </a:xfrm>
          <a:prstGeom prst="round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4 —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Digital Twin (state + simulator + physics model) · 4 ML Models · Carbon Calculator · Occupancy Optimizer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72000"/>
            <a:ext cx="11430000" cy="7772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5 —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Next.js Dashboard · FastAPI Backend (25+ endpoints) · WebSocket · JWT Auth · Swagger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440680"/>
            <a:ext cx="1143000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6 — INCENTIVE 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EcoPoints Engine (17 activities, 9 levels) · Carbon Credit Aggregation · Leaderboard ·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Each layer is independently deployable via Docker · Fog layer ensures offline resilience · Entire stack runs on-premise or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IoT SENSING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6 custom-built sensor nodes covering 5 environmental domains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325880"/>
            <a:ext cx="822960" cy="27432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325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Air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B364"/>
                </a:solidFill>
                <a:latin typeface="Calibri"/>
              </a:defRPr>
            </a:pPr>
            <a:r>
              <a:t>Sensors: MQ135 · PMS5003 · DHT22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AQI calculation · CO₂ estimation</a:t>
            </a:r>
            <a:br/>
            <a:r>
              <a:t>PM2.5/PM10 tracking</a:t>
            </a:r>
            <a:br/>
            <a:r>
              <a:t>Threshold alerts (&gt;150 warning)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1325880"/>
            <a:ext cx="82296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325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Water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Sensors: TDS · pH · DS18B20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dissolved solids</a:t>
            </a:r>
            <a:br/>
            <a:r>
              <a:t>pH monitoring (6.5–8.5 safe)</a:t>
            </a:r>
            <a:br/>
            <a:r>
              <a:t>Drinking water grading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1887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881360" y="1325880"/>
            <a:ext cx="82296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1325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ESP8266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Smart Waste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Sensors: HC-SR04 · HX711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Ultrasonic fill level (0–100%)</a:t>
            </a:r>
            <a:br/>
            <a:r>
              <a:t>Weight measurement</a:t>
            </a:r>
            <a:br/>
            <a:r>
              <a:t>ML overflow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931920"/>
            <a:ext cx="3749039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0" y="4069080"/>
            <a:ext cx="82296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Vertical Farm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Sensors: Soil · BH1750 · 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548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Auto-irrigation (moisture &lt;30%)</a:t>
            </a:r>
            <a:br/>
            <a:r>
              <a:t>Light intensity tracking</a:t>
            </a:r>
            <a:br/>
            <a:r>
              <a:t>Crop health scoring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3931920"/>
            <a:ext cx="3749039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49440" y="4069080"/>
            <a:ext cx="822960" cy="274320"/>
          </a:xfrm>
          <a:prstGeom prst="round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ESP8266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Energy Tiles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70F1"/>
                </a:solidFill>
                <a:latin typeface="Calibri"/>
              </a:defRPr>
            </a:pPr>
            <a:r>
              <a:t>Sensors: Piezo disc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7548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Footstep energy harvesting</a:t>
            </a:r>
            <a:br/>
            <a:r>
              <a:t>Traffic density classification</a:t>
            </a:r>
            <a:br/>
            <a:r>
              <a:t>Cumulative Wh tracking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93192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881360" y="4069080"/>
            <a:ext cx="822960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ESP32-S3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Precision Farm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B8A6"/>
                </a:solidFill>
                <a:latin typeface="Calibri"/>
              </a:defRPr>
            </a:pPr>
            <a:r>
              <a:t>Sensors: DHT22 · LDR · Soil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7548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3-layer Edge→Fog→Cloud</a:t>
            </a:r>
            <a:br/>
            <a:r>
              <a:t>Physics-based Digital Twin</a:t>
            </a:r>
            <a:br/>
            <a:r>
              <a:t>Emergency auto-control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DIGITAL TWIN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 living digital replica of your environment — simulate before you act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6692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C2E"/>
                </a:solidFill>
                <a:latin typeface="Calibri"/>
              </a:defRPr>
            </a:pPr>
            <a:r>
              <a:t>Campus 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Real-time state aggregation from all IoT sensors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Zone health scoring (AQI 30%, water 20%, waste 25%, noise 15%, energy 10%)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What-if simulation: "What if we add 50 solar panels?"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→ Projects daily/yearly CO₂ reduction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→ Estimates cost savings and energy generation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→ Generates actionable recommendations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Intervention types: solar panels, carpoolers, trees, bins, farms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Auto-generated alerts for threshold breaches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Carbon reduction projections per intervention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C2E"/>
                </a:solidFill>
                <a:latin typeface="Calibri"/>
              </a:defRPr>
            </a:pPr>
            <a:r>
              <a:t>Plant Digital Twin (Already Built!)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1417320"/>
            <a:ext cx="1097280" cy="27432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Physics-based water balance model: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ΔS = P + I - ET - D - R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(Penman-Monteith evapotranspiration equation)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Emergency auto-control rules: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Auto-irrigation when soil moisture &lt; 30%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Fan activation when temperature &gt; 35°C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Critical moisture alert at soil &lt; 20%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Fog-layer offline resilience: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Redis hot buffer for instant access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SQLite cold buffer for persistence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Background cloud sync when connectivity returns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N-day future predictions via Twin extrapolation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AI-POWERED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Machine Learning models that predict problems before they happen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37160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Waste Overflow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fill rate, weight, hour, day</a:t>
            </a:r>
            <a:br/>
            <a:r>
              <a:t>Output: Hours until bin is full</a:t>
            </a:r>
            <a:br/>
            <a:r>
              <a:t>Impact: Optimized collection routes,</a:t>
            </a:r>
            <a:br/>
            <a:r>
              <a:t>zero overflow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Air Quality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PM2.5, PM10, CO₂, temp</a:t>
            </a:r>
            <a:br/>
            <a:r>
              <a:t>Output: Next-hour AQI prediction</a:t>
            </a:r>
            <a:br/>
            <a:r>
              <a:t>Impact: Early warnings for</a:t>
            </a:r>
            <a:br/>
            <a:r>
              <a:t>vulnerable populations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188720"/>
            <a:ext cx="27432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86600" y="137160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Energy Demand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time, occupancy, temperature</a:t>
            </a:r>
            <a:br/>
            <a:r>
              <a:t>Output: kWh prediction</a:t>
            </a:r>
            <a:br/>
            <a:r>
              <a:t>Impact: Pre-allocate renewable</a:t>
            </a:r>
            <a:br/>
            <a:r>
              <a:t>sources, reduce grid dependency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1188720"/>
            <a:ext cx="274320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12680" y="1371600"/>
            <a:ext cx="822960" cy="82296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Crop Yield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moisture, light, pH, NPK</a:t>
            </a:r>
            <a:br/>
            <a:r>
              <a:t>Output: Estimated kg yield</a:t>
            </a:r>
            <a:br/>
            <a:r>
              <a:t>Impact: Optimize irrigation</a:t>
            </a:r>
            <a:br/>
            <a:r>
              <a:t>and fertilization timing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663440"/>
            <a:ext cx="11612880" cy="1828800"/>
          </a:xfrm>
          <a:prstGeom prst="roundRect">
            <a:avLst/>
          </a:prstGeom>
          <a:solidFill>
            <a:srgbClr val="EDFCF2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Carbon Footprint Calculator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66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Rule-based engine that converts daily activities into kg CO₂ equivalents:</a:t>
            </a:r>
            <a:br/>
            <a:r>
              <a:t>Transport (mode × distance × emission factor) + Electricity (kWh × grid factor) + Food (diet type × daily factor)</a:t>
            </a:r>
            <a:br/>
            <a:r>
              <a:t>Generates personalized reduction recommendations based on individual patterns. Each activity links to measurable carbon savings tracked in the EcoPoints system.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ECOPOINTS &amp; CARBON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Gamified engagement that turns everyday green habits into real carbon value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669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EcoPoints Gamification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17 trackable activities: recycle, carpool, plant_tree, compost, bike_ride...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Each activity = base points + CO₂ saved (e.g., plant_tree = 30 pts, 22 kg CO₂/yr)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Streak multipliers: 7-day (1.2×), 30-day (1.5×), 100-day (2.0×)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Time-bound community challenges with bonus rewards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Leaderboard with real-time rankings and level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9-Level Progression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1:  Seedling  ·················  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2:  Sapling  ··················  100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3:  Green Warrior  ···········  500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4:  Eco Guardian  ············  1,500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5:  Nature Keeper  ···········  5,000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6:  Sustainability Hero  ····  10,000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7:  Climate Champion  ·······  25,000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8:  Ecosystem Architect  ···  50,000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9:  Planetary Guardian  ····  100,000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1143000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2400E"/>
                </a:solidFill>
                <a:latin typeface="Calibri"/>
              </a:defRPr>
            </a:pPr>
            <a:r>
              <a:t>Carbon Credit Aggregation — The 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Every EcoPoints activity maps to measurable kg CO₂ saved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Individual micro-actions are aggregated into verified carbon credits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Credits can be traded on carbon offset marketplaces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Institutions earn revenue from collective sustainability efforts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Bridges the gap between personal habits and institutional ESG goals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Creates a genuine eco-economy where sustainability pays — literally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INNOVATION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Advanced capabilities that set Ecoverse 360 apart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41732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Aerial Environmental</a:t>
            </a:r>
            <a:br/>
            <a:r>
              <a:t>Surveying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Drone-mounted sensor arrays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Cover large campus/city areas rapidly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Map pollution hotspots from above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On-demand deployment for events/incidents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Complements fixed IoT network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Thermal Energy</a:t>
            </a:r>
            <a:br/>
            <a:r>
              <a:t>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Capture waste heat from AC &amp; exhaust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Redirect for water pre-heating / warm air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Thermoelectric generators for small power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Monitor thermal waste via IoT sensors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Can reduce HVAC costs by 15-25%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6600" y="14173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Smart Building</a:t>
            </a:r>
            <a:br/>
            <a: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Occupancy-aware HVAC/lighting control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PIR + CO₂ occupancy estimation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Auto-dim empty zones, pre-cool busy ones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Schedule optimization with weather data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40% energy savings in under-utilized areas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188720"/>
            <a:ext cx="274320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12680" y="1417320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Micro-Zone</a:t>
            </a:r>
            <a:br/>
            <a:r>
              <a:t>Environmental Sculpting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AI-directed block/street level interventions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Localized air quality improvement plans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Targeted vegetation &amp; shade placement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Real-time zone health monitoring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Urban heat island mitigation at micro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PROOF OF CONCEPT —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 Resource-aware Digital Twin Framework for Precision Micro-farming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200400" cy="41148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115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github.com/Am4l-babu/S6-MINI-PROJECT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7315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109728" cy="1280160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B364"/>
                </a:solidFill>
                <a:latin typeface="Calibri"/>
              </a:defRPr>
            </a:pPr>
            <a:r>
              <a:t>EDGE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ESP32-S3 with DHT22 (temp/humidity), LDR (light),</a:t>
            </a:r>
            <a:br/>
            <a:r>
              <a:t>Capacitive Soil Moisture — publishes every 10 seconds via MQTT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08960"/>
            <a:ext cx="7315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0972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FOG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Mosquitto MQTT Broker + Data Validation + Emergency Auto-Control</a:t>
            </a:r>
            <a:br/>
            <a:r>
              <a:t>Redis hot buffer + SQLite cold buffer — works offline!</a:t>
            </a:r>
            <a:br/>
            <a:r>
              <a:t>Auto-irrigation (soil&lt;30%) · Heat protection (temp&gt;35°C) · Cloud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754880"/>
            <a:ext cx="7315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7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109728" cy="1280160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70F1"/>
                </a:solidFill>
                <a:latin typeface="Calibri"/>
              </a:defRPr>
            </a:pPr>
            <a:r>
              <a:t>CLOUD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FastAPI REST API + SQLite + Digital Twin Engine</a:t>
            </a:r>
            <a:br/>
            <a:r>
              <a:t>Physics: Water Balance (ΔS = P+I-ET-D-R) + Penman-Monteith ET</a:t>
            </a:r>
            <a:br/>
            <a:r>
              <a:t>Next.js Dashboard with real-time WebSocket + Historical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645920"/>
            <a:ext cx="3749039" cy="54864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B364"/>
                </a:solidFill>
                <a:latin typeface="Calibri"/>
              </a:defRPr>
            </a:pPr>
            <a:r>
              <a:t>10s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Sensor Polling</a:t>
            </a:r>
            <a:br/>
            <a:r>
              <a:t>Interval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8036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88036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0175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063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Docker</a:t>
            </a:r>
            <a:br/>
            <a:r>
              <a:t>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11480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114800"/>
            <a:ext cx="3749039" cy="54864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251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B70F1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297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534924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5349240"/>
            <a:ext cx="3749039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5486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B8A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532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Offline</a:t>
            </a:r>
            <a:br/>
            <a:r>
              <a:t>Capable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Built with production-grade tools — ready to scale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Async, ML, IoT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Fastest Python web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SQLAlchemy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Async ORM,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Pydantic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Rust-powered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RandomForest, GradientBoosting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Data manipulation, time-series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Numerical computing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Physics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Custom water balance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1887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ACID, JSONB,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Sub-ms cache, pub/sub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Fog offline buffer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Materialized 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Pre-computed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3931920"/>
            <a:ext cx="3749039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React SSR + App Router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Tailwind CSS 3.4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Utility-first responsive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Data visualization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Zustand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Minimal state management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0" y="393192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IoT / 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ESP32 / ESP32-S3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WiFi+BLE, 12-bit ADC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ESP8266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Low-cost WiFi MCU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PlatformIO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Embedded IDE+libraries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6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MQTT Protocol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Lightweight IoT pub/sub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38160" y="3931920"/>
            <a:ext cx="3749039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Multi-service orchestration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Mosquitto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MQTT broker + WebSocket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Version control + CI/CD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Swagger UI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Auto API documentation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Scaling from campuses to cities — a 4-phase rollout strategy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560320" cy="73152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417320"/>
            <a:ext cx="640080" cy="64008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Educational</a:t>
            </a:r>
            <a:br/>
            <a:r>
              <a:t>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Colleges · Schools · Universities</a:t>
            </a:r>
            <a:br/>
            <a:br/>
            <a:r>
              <a:t>• Campus IoT sensor network</a:t>
            </a:r>
            <a:br/>
            <a:r>
              <a:t>• Student EcoPoints engagement</a:t>
            </a:r>
            <a:br/>
            <a:r>
              <a:t>• Digital Twin for campus ops</a:t>
            </a:r>
            <a:br/>
            <a:r>
              <a:t>• Precision farming lab</a:t>
            </a:r>
            <a:br/>
            <a:r>
              <a:t>• Research API for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06240"/>
            <a:ext cx="1463040" cy="27432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ACTIVE 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118872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31920" y="14173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Residential</a:t>
            </a:r>
            <a:br/>
            <a:r>
              <a:t>Communities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Homes · Apartments · Communities</a:t>
            </a:r>
            <a:br/>
            <a:br/>
            <a:r>
              <a:t>• Plug-and-play sensor kits</a:t>
            </a:r>
            <a:br/>
            <a:r>
              <a:t>• Household carbon calculator</a:t>
            </a:r>
            <a:br/>
            <a:r>
              <a:t>• Rooftop farm integration</a:t>
            </a:r>
            <a:br/>
            <a:r>
              <a:t>• Waste heat recovery from AC</a:t>
            </a:r>
            <a:br/>
            <a:r>
              <a:t>• Community leaderboards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206240"/>
            <a:ext cx="146304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80360" y="2743200"/>
            <a:ext cx="2286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23560" y="2743200"/>
            <a:ext cx="2286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66760" y="2743200"/>
            <a:ext cx="2286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11887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0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Government &amp;</a:t>
            </a:r>
            <a:br/>
            <a:r>
              <a:t>Public Sector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Buildings · Parks · Transit Hubs</a:t>
            </a:r>
            <a:br/>
            <a:br/>
            <a:r>
              <a:t>• Building energy monitoring</a:t>
            </a:r>
            <a:br/>
            <a:r>
              <a:t>• Smart park irrigation</a:t>
            </a:r>
            <a:br/>
            <a:r>
              <a:t>• Energy tiles at transit hubs</a:t>
            </a:r>
            <a:br/>
            <a:r>
              <a:t>• Citizen EcoPoints app</a:t>
            </a:r>
            <a:br/>
            <a:r>
              <a:t>• ESG compliance reports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206240"/>
            <a:ext cx="14630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1188720"/>
            <a:ext cx="2560320" cy="73152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18320" y="1417320"/>
            <a:ext cx="640080" cy="640080"/>
          </a:xfrm>
          <a:prstGeom prst="ellipse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Private Sector</a:t>
            </a:r>
            <a:br/>
            <a:r>
              <a:t>&amp; Enterprise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Offices · Factories · Industry</a:t>
            </a:r>
            <a:br/>
            <a:br/>
            <a:r>
              <a:t>• Smart building automation</a:t>
            </a:r>
            <a:br/>
            <a:r>
              <a:t>• Factory emissions monitoring</a:t>
            </a:r>
            <a:br/>
            <a:r>
              <a:t>• Waste heat-to-energy systems</a:t>
            </a:r>
            <a:br/>
            <a:r>
              <a:t>• Multi-facility federation</a:t>
            </a:r>
            <a:br/>
            <a:r>
              <a:t>• Carbon credit trading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4206240"/>
            <a:ext cx="1463040" cy="274320"/>
          </a:xfrm>
          <a:prstGeom prst="round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2027+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029200"/>
            <a:ext cx="11612880" cy="1371600"/>
          </a:xfrm>
          <a:prstGeom prst="roundRect">
            <a:avLst/>
          </a:prstGeom>
          <a:solidFill>
            <a:srgbClr val="EDFCF2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C2E"/>
                </a:solidFill>
                <a:latin typeface="Calibri"/>
              </a:defRPr>
            </a:pPr>
            <a:r>
              <a:t>Why This Sequence Works: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532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1. Students are most receptive — campuses are ideal controlled environments for piloting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2. Proven campus tech scales naturally to homes with simplified sensor kits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3. Government adoption enabled by proven impact data from Phase 1 &amp; 2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4. Enterprise sector values verified carbon credits and ESG compliance infrastructure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Measurable sustainability outcomes — not just ideas, but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35+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API Endpoints</a:t>
            </a:r>
            <a:br/>
            <a:r>
              <a:t>Across 2 Repos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1188720"/>
            <a:ext cx="2011680" cy="54864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B364"/>
                </a:solidFill>
                <a:latin typeface="Calibri"/>
              </a:defRPr>
            </a:pPr>
            <a:r>
              <a:t>117+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Files Built</a:t>
            </a:r>
            <a:br/>
            <a:r>
              <a:t>14,400+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18872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4B8A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IoT Device</a:t>
            </a:r>
            <a:br/>
            <a:r>
              <a:t>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118872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188720"/>
            <a:ext cx="2011680" cy="54864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70F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ML Models +</a:t>
            </a:r>
            <a:br/>
            <a:r>
              <a:t>Physics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26080"/>
            <a:ext cx="5669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566928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C2E"/>
                </a:solidFill>
                <a:latin typeface="Calibri"/>
              </a:defRPr>
            </a:pPr>
            <a:r>
              <a:t>Projected Environmental Impact (Per Campus/Year)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30-40% reduction in waste overflow incidents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Early air quality warnings → fewer health incidents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15-25% energy savings from occupancy-aware optimization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20%+ water savings from precision irrigation intelligence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Measurable CO₂ reduction per participant via EcoPoints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Tonnes of verified carbon credits from collective actions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Data-driven allocation of sustainability budgets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Student engagement rates 5× higher with gamification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26080"/>
            <a:ext cx="5669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5669280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C2E"/>
                </a:solidFill>
                <a:latin typeface="Calibri"/>
              </a:defRPr>
            </a:pPr>
            <a:r>
              <a:t>What Sets Ecoverse 360 Apart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Not just monitoring — we PREDICT, SIMULATE, and REWARD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Only platform combining IoT + Digital Twin + ML + Gamification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Physics-based Digital Twin (not just data aggregation)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Fog-layer offline resilience — works without internet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Carbon credits from individual habits → institutional value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Proven proof-of-concept already operational (Plant DT)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Open architecture — modular, Docker-ready, API-first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4-phase rollout: campus → home → city → 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A9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87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0F0C4"/>
                </a:solidFill>
                <a:latin typeface="Calibri"/>
              </a:defRPr>
            </a:pPr>
            <a:r>
              <a:t>Because Every Space Can Be a</a:t>
            </a:r>
            <a:br/>
            <a:r>
              <a:t>Sustainable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B364"/>
                </a:solidFill>
                <a:latin typeface="Calibri"/>
              </a:defRPr>
            </a:pPr>
            <a:r>
              <a:t>Main Platform:   github.com/Am4l-babu/ECOVERSE-360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B364"/>
                </a:solidFill>
                <a:latin typeface="Calibri"/>
              </a:defRPr>
            </a:pPr>
            <a:r>
              <a:t>Plant Digital Twin:   github.com/Am4l-babu/S6-MINI-PROJECT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Team Ecoverse  |  NAVA Eco Ideathon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B364"/>
                </a:solidFill>
                <a:latin typeface="Calibri"/>
              </a:defRPr>
            </a:pPr>
            <a:r>
              <a:t>Adi Shankara Institute of Engineering &amp;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